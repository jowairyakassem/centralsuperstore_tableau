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ting the Scene" id="{1F43BB7F-301F-4128-CB1D-BC0643FA2790}">
          <p14:sldIdLst>
            <p14:sldId id="256"/>
            <p14:sldId id="257"/>
            <p14:sldId id="258"/>
          </p14:sldIdLst>
        </p14:section>
        <p14:section name="Building the Foundation" id="{535DFC16-C4CF-ECF7-1421-B86343C2AC37}">
          <p14:sldIdLst>
            <p14:sldId id="259"/>
            <p14:sldId id="260"/>
            <p14:sldId id="261"/>
            <p14:sldId id="262"/>
            <p14:sldId id="263"/>
          </p14:sldIdLst>
        </p14:section>
        <p14:section name="Discoveries" id="{24D014C6-1DD8-BDA4-F466-CFBDE7AD6149}">
          <p14:sldIdLst>
            <p14:sldId id="264"/>
            <p14:sldId id="265"/>
            <p14:sldId id="266"/>
            <p14:sldId id="267"/>
            <p14:sldId id="268"/>
            <p14:sldId id="269"/>
            <p14:sldId id="270"/>
          </p14:sldIdLst>
        </p14:section>
        <p14:section name="Wrapping Up" id="{277F71D4-54DE-59C4-EB80-713316C5B04A}">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Sales vs profit by category, 2013 to 2016</a:t>
            </a:r>
          </a:p>
        </c:rich>
      </c:tx>
      <c:overlay val="0"/>
    </c:title>
    <c:autoTitleDeleted val="0"/>
    <c:plotArea>
      <c:layout/>
      <c:barChart>
        <c:barDir val="col"/>
        <c:grouping val="clustered"/>
        <c:varyColors val="0"/>
        <c:ser>
          <c:idx val="0"/>
          <c:order val="0"/>
          <c:tx>
            <c:strRef>
              <c:f>Sheet1!$B$1</c:f>
              <c:strCache>
                <c:ptCount val="1"/>
                <c:pt idx="0">
                  <c:v>Sales</c:v>
                </c:pt>
              </c:strCache>
            </c:strRef>
          </c:tx>
          <c:spPr>
            <a:solidFill>
              <a:srgbClr val="1F7A8C"/>
            </a:solidFill>
            <a:effectLst/>
          </c:spPr>
          <c:invertIfNegative val="0"/>
          <c:dLbls>
            <c:numFmt formatCode="\$#,##0"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Furniture</c:v>
                </c:pt>
                <c:pt idx="1">
                  <c:v>Office Supplies</c:v>
                </c:pt>
                <c:pt idx="2">
                  <c:v>Technology</c:v>
                </c:pt>
              </c:strCache>
            </c:strRef>
          </c:cat>
          <c:val>
            <c:numRef>
              <c:f>Sheet1!$B$2:$B$4</c:f>
              <c:numCache>
                <c:formatCode>General</c:formatCode>
                <c:ptCount val="3"/>
                <c:pt idx="0">
                  <c:v>163797</c:v>
                </c:pt>
                <c:pt idx="1">
                  <c:v>167026</c:v>
                </c:pt>
                <c:pt idx="2">
                  <c:v>170416</c:v>
                </c:pt>
              </c:numCache>
            </c:numRef>
          </c:val>
          <c:extLst>
            <c:ext xmlns:c16="http://schemas.microsoft.com/office/drawing/2014/chart" uri="{C3380CC4-5D6E-409C-BE32-E72D297353CC}">
              <c16:uniqueId val="{00000000-EA6D-4494-B813-6405D3203294}"/>
            </c:ext>
          </c:extLst>
        </c:ser>
        <c:ser>
          <c:idx val="1"/>
          <c:order val="1"/>
          <c:tx>
            <c:strRef>
              <c:f>Sheet1!$C$1</c:f>
              <c:strCache>
                <c:ptCount val="1"/>
                <c:pt idx="0">
                  <c:v>Profit</c:v>
                </c:pt>
              </c:strCache>
            </c:strRef>
          </c:tx>
          <c:spPr>
            <a:solidFill>
              <a:srgbClr val="F2A541"/>
            </a:solidFill>
            <a:effectLst/>
          </c:spPr>
          <c:invertIfNegative val="0"/>
          <c:dLbls>
            <c:numFmt formatCode="\$#,##0"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Furniture</c:v>
                </c:pt>
                <c:pt idx="1">
                  <c:v>Office Supplies</c:v>
                </c:pt>
                <c:pt idx="2">
                  <c:v>Technology</c:v>
                </c:pt>
              </c:strCache>
            </c:strRef>
          </c:cat>
          <c:val>
            <c:numRef>
              <c:f>Sheet1!$C$2:$C$4</c:f>
              <c:numCache>
                <c:formatCode>General</c:formatCode>
                <c:ptCount val="3"/>
                <c:pt idx="0">
                  <c:v>-2871</c:v>
                </c:pt>
                <c:pt idx="1">
                  <c:v>8880</c:v>
                </c:pt>
                <c:pt idx="2">
                  <c:v>33697</c:v>
                </c:pt>
              </c:numCache>
            </c:numRef>
          </c:val>
          <c:extLst>
            <c:ext xmlns:c16="http://schemas.microsoft.com/office/drawing/2014/chart" uri="{C3380CC4-5D6E-409C-BE32-E72D297353CC}">
              <c16:uniqueId val="{00000001-EA6D-4494-B813-6405D320329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Sales and profit by year</a:t>
            </a:r>
          </a:p>
        </c:rich>
      </c:tx>
      <c:overlay val="0"/>
    </c:title>
    <c:autoTitleDeleted val="0"/>
    <c:plotArea>
      <c:layout/>
      <c:barChart>
        <c:barDir val="col"/>
        <c:grouping val="clustered"/>
        <c:varyColors val="0"/>
        <c:ser>
          <c:idx val="0"/>
          <c:order val="0"/>
          <c:tx>
            <c:strRef>
              <c:f>Sheet1!$B$1</c:f>
              <c:strCache>
                <c:ptCount val="1"/>
                <c:pt idx="0">
                  <c:v>Sales</c:v>
                </c:pt>
              </c:strCache>
            </c:strRef>
          </c:tx>
          <c:spPr>
            <a:solidFill>
              <a:srgbClr val="1F7A8C"/>
            </a:solidFill>
            <a:effectLst/>
          </c:spPr>
          <c:invertIfNegative val="0"/>
          <c:dLbls>
            <c:numFmt formatCode="\$#,##0,&quot;K&quot;"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2013</c:v>
                </c:pt>
                <c:pt idx="1">
                  <c:v>2014</c:v>
                </c:pt>
                <c:pt idx="2">
                  <c:v>2015</c:v>
                </c:pt>
                <c:pt idx="3">
                  <c:v>2016</c:v>
                </c:pt>
              </c:strCache>
            </c:strRef>
          </c:cat>
          <c:val>
            <c:numRef>
              <c:f>Sheet1!$B$2:$B$5</c:f>
              <c:numCache>
                <c:formatCode>General</c:formatCode>
                <c:ptCount val="4"/>
                <c:pt idx="0">
                  <c:v>103838</c:v>
                </c:pt>
                <c:pt idx="1">
                  <c:v>102874</c:v>
                </c:pt>
                <c:pt idx="2">
                  <c:v>147429</c:v>
                </c:pt>
                <c:pt idx="3">
                  <c:v>147098</c:v>
                </c:pt>
              </c:numCache>
            </c:numRef>
          </c:val>
          <c:extLst>
            <c:ext xmlns:c16="http://schemas.microsoft.com/office/drawing/2014/chart" uri="{C3380CC4-5D6E-409C-BE32-E72D297353CC}">
              <c16:uniqueId val="{00000000-E12E-41E5-9653-9915344D866B}"/>
            </c:ext>
          </c:extLst>
        </c:ser>
        <c:ser>
          <c:idx val="1"/>
          <c:order val="1"/>
          <c:tx>
            <c:strRef>
              <c:f>Sheet1!$C$1</c:f>
              <c:strCache>
                <c:ptCount val="1"/>
                <c:pt idx="0">
                  <c:v>Profit</c:v>
                </c:pt>
              </c:strCache>
            </c:strRef>
          </c:tx>
          <c:spPr>
            <a:solidFill>
              <a:srgbClr val="F2A541"/>
            </a:solidFill>
            <a:effectLst/>
          </c:spPr>
          <c:invertIfNegative val="0"/>
          <c:dLbls>
            <c:numFmt formatCode="\$#,##0,&quot;K&quot;"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2013</c:v>
                </c:pt>
                <c:pt idx="1">
                  <c:v>2014</c:v>
                </c:pt>
                <c:pt idx="2">
                  <c:v>2015</c:v>
                </c:pt>
                <c:pt idx="3">
                  <c:v>2016</c:v>
                </c:pt>
              </c:strCache>
            </c:strRef>
          </c:cat>
          <c:val>
            <c:numRef>
              <c:f>Sheet1!$C$2:$C$5</c:f>
              <c:numCache>
                <c:formatCode>General</c:formatCode>
                <c:ptCount val="4"/>
                <c:pt idx="0">
                  <c:v>540</c:v>
                </c:pt>
                <c:pt idx="1">
                  <c:v>11717</c:v>
                </c:pt>
                <c:pt idx="2">
                  <c:v>19899</c:v>
                </c:pt>
                <c:pt idx="3">
                  <c:v>7551</c:v>
                </c:pt>
              </c:numCache>
            </c:numRef>
          </c:val>
          <c:extLst>
            <c:ext xmlns:c16="http://schemas.microsoft.com/office/drawing/2014/chart" uri="{C3380CC4-5D6E-409C-BE32-E72D297353CC}">
              <c16:uniqueId val="{00000001-E12E-41E5-9653-9915344D866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E1"/>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Average sales by calendar month</a:t>
            </a:r>
          </a:p>
        </c:rich>
      </c:tx>
      <c:overlay val="0"/>
    </c:title>
    <c:autoTitleDeleted val="0"/>
    <c:plotArea>
      <c:layout/>
      <c:lineChart>
        <c:grouping val="standard"/>
        <c:varyColors val="0"/>
        <c:ser>
          <c:idx val="0"/>
          <c:order val="0"/>
          <c:tx>
            <c:strRef>
              <c:f>Sheet1!$B$1</c:f>
              <c:strCache>
                <c:ptCount val="1"/>
                <c:pt idx="0">
                  <c:v>Avg sales per year</c:v>
                </c:pt>
              </c:strCache>
            </c:strRef>
          </c:tx>
          <c:spPr>
            <a:ln w="38100" cap="flat">
              <a:solidFill>
                <a:srgbClr val="1F7A8C"/>
              </a:solidFill>
              <a:prstDash val="solid"/>
              <a:round/>
            </a:ln>
            <a:effectLst/>
          </c:spPr>
          <c:marker>
            <c:symbol val="circle"/>
            <c:size val="8"/>
            <c:spPr>
              <a:solidFill>
                <a:srgbClr val="1F7A8C"/>
              </a:solidFill>
              <a:ln w="9525" cap="flat">
                <a:solidFill>
                  <a:srgbClr val="1F7A8C"/>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7921</c:v>
                </c:pt>
                <c:pt idx="1">
                  <c:v>2053</c:v>
                </c:pt>
                <c:pt idx="2">
                  <c:v>10304</c:v>
                </c:pt>
                <c:pt idx="3">
                  <c:v>6544</c:v>
                </c:pt>
                <c:pt idx="4">
                  <c:v>8944</c:v>
                </c:pt>
                <c:pt idx="5">
                  <c:v>8270</c:v>
                </c:pt>
                <c:pt idx="6">
                  <c:v>7713</c:v>
                </c:pt>
                <c:pt idx="7">
                  <c:v>6712</c:v>
                </c:pt>
                <c:pt idx="8">
                  <c:v>19214</c:v>
                </c:pt>
                <c:pt idx="9">
                  <c:v>13297</c:v>
                </c:pt>
                <c:pt idx="10">
                  <c:v>16207</c:v>
                </c:pt>
                <c:pt idx="11">
                  <c:v>18132</c:v>
                </c:pt>
              </c:numCache>
            </c:numRef>
          </c:val>
          <c:smooth val="0"/>
          <c:extLst>
            <c:ext xmlns:c16="http://schemas.microsoft.com/office/drawing/2014/chart" uri="{C3380CC4-5D6E-409C-BE32-E72D297353CC}">
              <c16:uniqueId val="{00000000-FA3D-429F-BB38-D47E8836F45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E1"/>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Profit by sub-category</a:t>
            </a:r>
          </a:p>
        </c:rich>
      </c:tx>
      <c:overlay val="0"/>
    </c:title>
    <c:autoTitleDeleted val="0"/>
    <c:plotArea>
      <c:layout/>
      <c:barChart>
        <c:barDir val="bar"/>
        <c:grouping val="clustered"/>
        <c:varyColors val="0"/>
        <c:ser>
          <c:idx val="0"/>
          <c:order val="0"/>
          <c:tx>
            <c:strRef>
              <c:f>Sheet1!$B$1</c:f>
              <c:strCache>
                <c:ptCount val="1"/>
                <c:pt idx="0">
                  <c:v>Profit</c:v>
                </c:pt>
              </c:strCache>
            </c:strRef>
          </c:tx>
          <c:spPr>
            <a:solidFill>
              <a:srgbClr val="2E8B57"/>
            </a:solidFill>
            <a:effectLst/>
          </c:spPr>
          <c:invertIfNegative val="0"/>
          <c:dPt>
            <c:idx val="0"/>
            <c:invertIfNegative val="0"/>
            <c:bubble3D val="0"/>
            <c:extLst>
              <c:ext xmlns:c16="http://schemas.microsoft.com/office/drawing/2014/chart" uri="{C3380CC4-5D6E-409C-BE32-E72D297353CC}">
                <c16:uniqueId val="{00000001-D3EF-4B93-BD9F-442AD8D52196}"/>
              </c:ext>
            </c:extLst>
          </c:dPt>
          <c:dPt>
            <c:idx val="1"/>
            <c:invertIfNegative val="0"/>
            <c:bubble3D val="0"/>
            <c:extLst>
              <c:ext xmlns:c16="http://schemas.microsoft.com/office/drawing/2014/chart" uri="{C3380CC4-5D6E-409C-BE32-E72D297353CC}">
                <c16:uniqueId val="{00000003-D3EF-4B93-BD9F-442AD8D52196}"/>
              </c:ext>
            </c:extLst>
          </c:dPt>
          <c:dPt>
            <c:idx val="2"/>
            <c:invertIfNegative val="0"/>
            <c:bubble3D val="0"/>
            <c:extLst>
              <c:ext xmlns:c16="http://schemas.microsoft.com/office/drawing/2014/chart" uri="{C3380CC4-5D6E-409C-BE32-E72D297353CC}">
                <c16:uniqueId val="{00000005-D3EF-4B93-BD9F-442AD8D52196}"/>
              </c:ext>
            </c:extLst>
          </c:dPt>
          <c:dPt>
            <c:idx val="3"/>
            <c:invertIfNegative val="0"/>
            <c:bubble3D val="0"/>
            <c:extLst>
              <c:ext xmlns:c16="http://schemas.microsoft.com/office/drawing/2014/chart" uri="{C3380CC4-5D6E-409C-BE32-E72D297353CC}">
                <c16:uniqueId val="{00000007-D3EF-4B93-BD9F-442AD8D52196}"/>
              </c:ext>
            </c:extLst>
          </c:dPt>
          <c:dPt>
            <c:idx val="4"/>
            <c:invertIfNegative val="0"/>
            <c:bubble3D val="0"/>
            <c:extLst>
              <c:ext xmlns:c16="http://schemas.microsoft.com/office/drawing/2014/chart" uri="{C3380CC4-5D6E-409C-BE32-E72D297353CC}">
                <c16:uniqueId val="{00000009-D3EF-4B93-BD9F-442AD8D52196}"/>
              </c:ext>
            </c:extLst>
          </c:dPt>
          <c:dPt>
            <c:idx val="5"/>
            <c:invertIfNegative val="0"/>
            <c:bubble3D val="0"/>
            <c:extLst>
              <c:ext xmlns:c16="http://schemas.microsoft.com/office/drawing/2014/chart" uri="{C3380CC4-5D6E-409C-BE32-E72D297353CC}">
                <c16:uniqueId val="{0000000B-D3EF-4B93-BD9F-442AD8D52196}"/>
              </c:ext>
            </c:extLst>
          </c:dPt>
          <c:dPt>
            <c:idx val="6"/>
            <c:invertIfNegative val="0"/>
            <c:bubble3D val="0"/>
            <c:extLst>
              <c:ext xmlns:c16="http://schemas.microsoft.com/office/drawing/2014/chart" uri="{C3380CC4-5D6E-409C-BE32-E72D297353CC}">
                <c16:uniqueId val="{0000000D-D3EF-4B93-BD9F-442AD8D52196}"/>
              </c:ext>
            </c:extLst>
          </c:dPt>
          <c:dPt>
            <c:idx val="7"/>
            <c:invertIfNegative val="0"/>
            <c:bubble3D val="0"/>
            <c:extLst>
              <c:ext xmlns:c16="http://schemas.microsoft.com/office/drawing/2014/chart" uri="{C3380CC4-5D6E-409C-BE32-E72D297353CC}">
                <c16:uniqueId val="{0000000F-D3EF-4B93-BD9F-442AD8D52196}"/>
              </c:ext>
            </c:extLst>
          </c:dPt>
          <c:dPt>
            <c:idx val="8"/>
            <c:invertIfNegative val="0"/>
            <c:bubble3D val="0"/>
            <c:extLst>
              <c:ext xmlns:c16="http://schemas.microsoft.com/office/drawing/2014/chart" uri="{C3380CC4-5D6E-409C-BE32-E72D297353CC}">
                <c16:uniqueId val="{00000011-D3EF-4B93-BD9F-442AD8D52196}"/>
              </c:ext>
            </c:extLst>
          </c:dPt>
          <c:dPt>
            <c:idx val="9"/>
            <c:invertIfNegative val="0"/>
            <c:bubble3D val="0"/>
            <c:extLst>
              <c:ext xmlns:c16="http://schemas.microsoft.com/office/drawing/2014/chart" uri="{C3380CC4-5D6E-409C-BE32-E72D297353CC}">
                <c16:uniqueId val="{00000013-D3EF-4B93-BD9F-442AD8D52196}"/>
              </c:ext>
            </c:extLst>
          </c:dPt>
          <c:dPt>
            <c:idx val="10"/>
            <c:invertIfNegative val="0"/>
            <c:bubble3D val="0"/>
            <c:spPr>
              <a:solidFill>
                <a:srgbClr val="C0392B"/>
              </a:solidFill>
              <a:effectLst/>
            </c:spPr>
            <c:extLst>
              <c:ext xmlns:c16="http://schemas.microsoft.com/office/drawing/2014/chart" uri="{C3380CC4-5D6E-409C-BE32-E72D297353CC}">
                <c16:uniqueId val="{00000015-D3EF-4B93-BD9F-442AD8D52196}"/>
              </c:ext>
            </c:extLst>
          </c:dPt>
          <c:dPt>
            <c:idx val="11"/>
            <c:invertIfNegative val="0"/>
            <c:bubble3D val="0"/>
            <c:spPr>
              <a:solidFill>
                <a:srgbClr val="C0392B"/>
              </a:solidFill>
              <a:effectLst/>
            </c:spPr>
            <c:extLst>
              <c:ext xmlns:c16="http://schemas.microsoft.com/office/drawing/2014/chart" uri="{C3380CC4-5D6E-409C-BE32-E72D297353CC}">
                <c16:uniqueId val="{00000017-D3EF-4B93-BD9F-442AD8D52196}"/>
              </c:ext>
            </c:extLst>
          </c:dPt>
          <c:dPt>
            <c:idx val="12"/>
            <c:invertIfNegative val="0"/>
            <c:bubble3D val="0"/>
            <c:spPr>
              <a:solidFill>
                <a:srgbClr val="C0392B"/>
              </a:solidFill>
              <a:effectLst/>
            </c:spPr>
            <c:extLst>
              <c:ext xmlns:c16="http://schemas.microsoft.com/office/drawing/2014/chart" uri="{C3380CC4-5D6E-409C-BE32-E72D297353CC}">
                <c16:uniqueId val="{00000019-D3EF-4B93-BD9F-442AD8D52196}"/>
              </c:ext>
            </c:extLst>
          </c:dPt>
          <c:dPt>
            <c:idx val="13"/>
            <c:invertIfNegative val="0"/>
            <c:bubble3D val="0"/>
            <c:spPr>
              <a:solidFill>
                <a:srgbClr val="C0392B"/>
              </a:solidFill>
              <a:effectLst/>
            </c:spPr>
            <c:extLst>
              <c:ext xmlns:c16="http://schemas.microsoft.com/office/drawing/2014/chart" uri="{C3380CC4-5D6E-409C-BE32-E72D297353CC}">
                <c16:uniqueId val="{0000001B-D3EF-4B93-BD9F-442AD8D52196}"/>
              </c:ext>
            </c:extLst>
          </c:dPt>
          <c:dPt>
            <c:idx val="14"/>
            <c:invertIfNegative val="0"/>
            <c:bubble3D val="0"/>
            <c:spPr>
              <a:solidFill>
                <a:srgbClr val="C0392B"/>
              </a:solidFill>
              <a:effectLst/>
            </c:spPr>
            <c:extLst>
              <c:ext xmlns:c16="http://schemas.microsoft.com/office/drawing/2014/chart" uri="{C3380CC4-5D6E-409C-BE32-E72D297353CC}">
                <c16:uniqueId val="{0000001D-D3EF-4B93-BD9F-442AD8D52196}"/>
              </c:ext>
            </c:extLst>
          </c:dPt>
          <c:dPt>
            <c:idx val="15"/>
            <c:invertIfNegative val="0"/>
            <c:bubble3D val="0"/>
            <c:spPr>
              <a:solidFill>
                <a:srgbClr val="C0392B"/>
              </a:solidFill>
              <a:effectLst/>
            </c:spPr>
            <c:extLst>
              <c:ext xmlns:c16="http://schemas.microsoft.com/office/drawing/2014/chart" uri="{C3380CC4-5D6E-409C-BE32-E72D297353CC}">
                <c16:uniqueId val="{0000001F-D3EF-4B93-BD9F-442AD8D52196}"/>
              </c:ext>
            </c:extLst>
          </c:dPt>
          <c:dPt>
            <c:idx val="16"/>
            <c:invertIfNegative val="0"/>
            <c:bubble3D val="0"/>
            <c:spPr>
              <a:solidFill>
                <a:srgbClr val="C0392B"/>
              </a:solidFill>
              <a:effectLst/>
            </c:spPr>
            <c:extLst>
              <c:ext xmlns:c16="http://schemas.microsoft.com/office/drawing/2014/chart" uri="{C3380CC4-5D6E-409C-BE32-E72D297353CC}">
                <c16:uniqueId val="{00000021-D3EF-4B93-BD9F-442AD8D52196}"/>
              </c:ext>
            </c:extLst>
          </c:dPt>
          <c:cat>
            <c:strRef>
              <c:f>Sheet1!$A$2:$A$18</c:f>
              <c:strCache>
                <c:ptCount val="17"/>
                <c:pt idx="0">
                  <c:v>Copiers</c:v>
                </c:pt>
                <c:pt idx="1">
                  <c:v>Phones</c:v>
                </c:pt>
                <c:pt idx="2">
                  <c:v>Accessories</c:v>
                </c:pt>
                <c:pt idx="3">
                  <c:v>Paper</c:v>
                </c:pt>
                <c:pt idx="4">
                  <c:v>Chairs</c:v>
                </c:pt>
                <c:pt idx="5">
                  <c:v>Storage</c:v>
                </c:pt>
                <c:pt idx="6">
                  <c:v>Envelopes</c:v>
                </c:pt>
                <c:pt idx="7">
                  <c:v>Art</c:v>
                </c:pt>
                <c:pt idx="8">
                  <c:v>Labels</c:v>
                </c:pt>
                <c:pt idx="9">
                  <c:v>Fasteners</c:v>
                </c:pt>
                <c:pt idx="10">
                  <c:v>Supplies</c:v>
                </c:pt>
                <c:pt idx="11">
                  <c:v>Binders</c:v>
                </c:pt>
                <c:pt idx="12">
                  <c:v>Machines</c:v>
                </c:pt>
                <c:pt idx="13">
                  <c:v>Bookcases</c:v>
                </c:pt>
                <c:pt idx="14">
                  <c:v>Appliances</c:v>
                </c:pt>
                <c:pt idx="15">
                  <c:v>Tables</c:v>
                </c:pt>
                <c:pt idx="16">
                  <c:v>Furnishings</c:v>
                </c:pt>
              </c:strCache>
            </c:strRef>
          </c:cat>
          <c:val>
            <c:numRef>
              <c:f>Sheet1!$B$2:$B$18</c:f>
              <c:numCache>
                <c:formatCode>General</c:formatCode>
                <c:ptCount val="17"/>
                <c:pt idx="0">
                  <c:v>15609</c:v>
                </c:pt>
                <c:pt idx="1">
                  <c:v>12323</c:v>
                </c:pt>
                <c:pt idx="2">
                  <c:v>7252</c:v>
                </c:pt>
                <c:pt idx="3">
                  <c:v>6972</c:v>
                </c:pt>
                <c:pt idx="4">
                  <c:v>6593</c:v>
                </c:pt>
                <c:pt idx="5">
                  <c:v>1970</c:v>
                </c:pt>
                <c:pt idx="6">
                  <c:v>1778</c:v>
                </c:pt>
                <c:pt idx="7">
                  <c:v>1195</c:v>
                </c:pt>
                <c:pt idx="8">
                  <c:v>1073</c:v>
                </c:pt>
                <c:pt idx="9">
                  <c:v>237</c:v>
                </c:pt>
                <c:pt idx="10">
                  <c:v>-662</c:v>
                </c:pt>
                <c:pt idx="11">
                  <c:v>-1044</c:v>
                </c:pt>
                <c:pt idx="12">
                  <c:v>-1486</c:v>
                </c:pt>
                <c:pt idx="13">
                  <c:v>-1998</c:v>
                </c:pt>
                <c:pt idx="14">
                  <c:v>-2639</c:v>
                </c:pt>
                <c:pt idx="15">
                  <c:v>-3560</c:v>
                </c:pt>
                <c:pt idx="16">
                  <c:v>-3906</c:v>
                </c:pt>
              </c:numCache>
            </c:numRef>
          </c:val>
          <c:extLst>
            <c:ext xmlns:c16="http://schemas.microsoft.com/office/drawing/2014/chart" uri="{C3380CC4-5D6E-409C-BE32-E72D297353CC}">
              <c16:uniqueId val="{00000022-D3EF-4B93-BD9F-442AD8D52196}"/>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5DE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Profit by discount level (order lines)</a:t>
            </a:r>
          </a:p>
        </c:rich>
      </c:tx>
      <c:overlay val="0"/>
    </c:title>
    <c:autoTitleDeleted val="0"/>
    <c:plotArea>
      <c:layout/>
      <c:barChart>
        <c:barDir val="col"/>
        <c:grouping val="clustered"/>
        <c:varyColors val="0"/>
        <c:ser>
          <c:idx val="0"/>
          <c:order val="0"/>
          <c:tx>
            <c:strRef>
              <c:f>Sheet1!$B$1</c:f>
              <c:strCache>
                <c:ptCount val="1"/>
                <c:pt idx="0">
                  <c:v>Profit</c:v>
                </c:pt>
              </c:strCache>
            </c:strRef>
          </c:tx>
          <c:spPr>
            <a:solidFill>
              <a:srgbClr val="2E8B57"/>
            </a:solidFill>
            <a:effectLst/>
          </c:spPr>
          <c:invertIfNegative val="0"/>
          <c:dPt>
            <c:idx val="0"/>
            <c:invertIfNegative val="0"/>
            <c:bubble3D val="0"/>
            <c:extLst>
              <c:ext xmlns:c16="http://schemas.microsoft.com/office/drawing/2014/chart" uri="{C3380CC4-5D6E-409C-BE32-E72D297353CC}">
                <c16:uniqueId val="{00000001-3A4E-4DAC-B77C-EF33A43EA96C}"/>
              </c:ext>
            </c:extLst>
          </c:dPt>
          <c:dPt>
            <c:idx val="1"/>
            <c:invertIfNegative val="0"/>
            <c:bubble3D val="0"/>
            <c:extLst>
              <c:ext xmlns:c16="http://schemas.microsoft.com/office/drawing/2014/chart" uri="{C3380CC4-5D6E-409C-BE32-E72D297353CC}">
                <c16:uniqueId val="{00000003-3A4E-4DAC-B77C-EF33A43EA96C}"/>
              </c:ext>
            </c:extLst>
          </c:dPt>
          <c:dPt>
            <c:idx val="2"/>
            <c:invertIfNegative val="0"/>
            <c:bubble3D val="0"/>
            <c:spPr>
              <a:solidFill>
                <a:srgbClr val="C0392B"/>
              </a:solidFill>
              <a:effectLst/>
            </c:spPr>
            <c:extLst>
              <c:ext xmlns:c16="http://schemas.microsoft.com/office/drawing/2014/chart" uri="{C3380CC4-5D6E-409C-BE32-E72D297353CC}">
                <c16:uniqueId val="{00000005-3A4E-4DAC-B77C-EF33A43EA96C}"/>
              </c:ext>
            </c:extLst>
          </c:dPt>
          <c:dPt>
            <c:idx val="3"/>
            <c:invertIfNegative val="0"/>
            <c:bubble3D val="0"/>
            <c:spPr>
              <a:solidFill>
                <a:srgbClr val="C0392B"/>
              </a:solidFill>
              <a:effectLst/>
            </c:spPr>
            <c:extLst>
              <c:ext xmlns:c16="http://schemas.microsoft.com/office/drawing/2014/chart" uri="{C3380CC4-5D6E-409C-BE32-E72D297353CC}">
                <c16:uniqueId val="{00000007-3A4E-4DAC-B77C-EF33A43EA96C}"/>
              </c:ext>
            </c:extLst>
          </c:dPt>
          <c:dLbls>
            <c:numFmt formatCode="\$#,##0,&quot;K&quot;"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discount</c:v>
                </c:pt>
                <c:pt idx="1">
                  <c:v>1 to 20%</c:v>
                </c:pt>
                <c:pt idx="2">
                  <c:v>21 to 40%</c:v>
                </c:pt>
                <c:pt idx="3">
                  <c:v>Over 40%</c:v>
                </c:pt>
              </c:strCache>
            </c:strRef>
          </c:cat>
          <c:val>
            <c:numRef>
              <c:f>Sheet1!$B$2:$B$5</c:f>
              <c:numCache>
                <c:formatCode>General</c:formatCode>
                <c:ptCount val="4"/>
                <c:pt idx="0">
                  <c:v>76125</c:v>
                </c:pt>
                <c:pt idx="1">
                  <c:v>15973</c:v>
                </c:pt>
                <c:pt idx="2">
                  <c:v>-11599</c:v>
                </c:pt>
                <c:pt idx="3">
                  <c:v>-40793</c:v>
                </c:pt>
              </c:numCache>
            </c:numRef>
          </c:val>
          <c:extLst>
            <c:ext xmlns:c16="http://schemas.microsoft.com/office/drawing/2014/chart" uri="{C3380CC4-5D6E-409C-BE32-E72D297353CC}">
              <c16:uniqueId val="{00000008-3A4E-4DAC-B77C-EF33A43EA96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E1"/>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2A33"/>
                </a:solidFill>
                <a:latin typeface="+mn-lt"/>
              </a:defRPr>
            </a:pPr>
            <a:r>
              <a:rPr lang="en-US" sz="1300" b="0" i="0" u="none" strike="noStrike">
                <a:solidFill>
                  <a:srgbClr val="1B2A33"/>
                </a:solidFill>
                <a:latin typeface="+mn-lt"/>
              </a:rPr>
              <a:t>Profit by state</a:t>
            </a:r>
          </a:p>
        </c:rich>
      </c:tx>
      <c:overlay val="0"/>
    </c:title>
    <c:autoTitleDeleted val="0"/>
    <c:plotArea>
      <c:layout/>
      <c:barChart>
        <c:barDir val="bar"/>
        <c:grouping val="clustered"/>
        <c:varyColors val="0"/>
        <c:ser>
          <c:idx val="0"/>
          <c:order val="0"/>
          <c:tx>
            <c:strRef>
              <c:f>Sheet1!$B$1</c:f>
              <c:strCache>
                <c:ptCount val="1"/>
                <c:pt idx="0">
                  <c:v>Profit</c:v>
                </c:pt>
              </c:strCache>
            </c:strRef>
          </c:tx>
          <c:spPr>
            <a:solidFill>
              <a:srgbClr val="2E8B57"/>
            </a:solidFill>
            <a:effectLst/>
          </c:spPr>
          <c:invertIfNegative val="0"/>
          <c:dPt>
            <c:idx val="0"/>
            <c:invertIfNegative val="0"/>
            <c:bubble3D val="0"/>
            <c:spPr>
              <a:solidFill>
                <a:srgbClr val="C0392B"/>
              </a:solidFill>
              <a:effectLst/>
            </c:spPr>
            <c:extLst>
              <c:ext xmlns:c16="http://schemas.microsoft.com/office/drawing/2014/chart" uri="{C3380CC4-5D6E-409C-BE32-E72D297353CC}">
                <c16:uniqueId val="{00000001-596A-4B64-A6DA-DCA33E2CCB0D}"/>
              </c:ext>
            </c:extLst>
          </c:dPt>
          <c:dPt>
            <c:idx val="1"/>
            <c:invertIfNegative val="0"/>
            <c:bubble3D val="0"/>
            <c:spPr>
              <a:solidFill>
                <a:srgbClr val="C0392B"/>
              </a:solidFill>
              <a:effectLst/>
            </c:spPr>
            <c:extLst>
              <c:ext xmlns:c16="http://schemas.microsoft.com/office/drawing/2014/chart" uri="{C3380CC4-5D6E-409C-BE32-E72D297353CC}">
                <c16:uniqueId val="{00000003-596A-4B64-A6DA-DCA33E2CCB0D}"/>
              </c:ext>
            </c:extLst>
          </c:dPt>
          <c:dPt>
            <c:idx val="2"/>
            <c:invertIfNegative val="0"/>
            <c:bubble3D val="0"/>
            <c:extLst>
              <c:ext xmlns:c16="http://schemas.microsoft.com/office/drawing/2014/chart" uri="{C3380CC4-5D6E-409C-BE32-E72D297353CC}">
                <c16:uniqueId val="{00000005-596A-4B64-A6DA-DCA33E2CCB0D}"/>
              </c:ext>
            </c:extLst>
          </c:dPt>
          <c:dPt>
            <c:idx val="3"/>
            <c:invertIfNegative val="0"/>
            <c:bubble3D val="0"/>
            <c:extLst>
              <c:ext xmlns:c16="http://schemas.microsoft.com/office/drawing/2014/chart" uri="{C3380CC4-5D6E-409C-BE32-E72D297353CC}">
                <c16:uniqueId val="{00000007-596A-4B64-A6DA-DCA33E2CCB0D}"/>
              </c:ext>
            </c:extLst>
          </c:dPt>
          <c:dPt>
            <c:idx val="4"/>
            <c:invertIfNegative val="0"/>
            <c:bubble3D val="0"/>
            <c:extLst>
              <c:ext xmlns:c16="http://schemas.microsoft.com/office/drawing/2014/chart" uri="{C3380CC4-5D6E-409C-BE32-E72D297353CC}">
                <c16:uniqueId val="{00000009-596A-4B64-A6DA-DCA33E2CCB0D}"/>
              </c:ext>
            </c:extLst>
          </c:dPt>
          <c:dPt>
            <c:idx val="5"/>
            <c:invertIfNegative val="0"/>
            <c:bubble3D val="0"/>
            <c:extLst>
              <c:ext xmlns:c16="http://schemas.microsoft.com/office/drawing/2014/chart" uri="{C3380CC4-5D6E-409C-BE32-E72D297353CC}">
                <c16:uniqueId val="{0000000B-596A-4B64-A6DA-DCA33E2CCB0D}"/>
              </c:ext>
            </c:extLst>
          </c:dPt>
          <c:dPt>
            <c:idx val="6"/>
            <c:invertIfNegative val="0"/>
            <c:bubble3D val="0"/>
            <c:extLst>
              <c:ext xmlns:c16="http://schemas.microsoft.com/office/drawing/2014/chart" uri="{C3380CC4-5D6E-409C-BE32-E72D297353CC}">
                <c16:uniqueId val="{0000000D-596A-4B64-A6DA-DCA33E2CCB0D}"/>
              </c:ext>
            </c:extLst>
          </c:dPt>
          <c:dPt>
            <c:idx val="7"/>
            <c:invertIfNegative val="0"/>
            <c:bubble3D val="0"/>
            <c:extLst>
              <c:ext xmlns:c16="http://schemas.microsoft.com/office/drawing/2014/chart" uri="{C3380CC4-5D6E-409C-BE32-E72D297353CC}">
                <c16:uniqueId val="{0000000F-596A-4B64-A6DA-DCA33E2CCB0D}"/>
              </c:ext>
            </c:extLst>
          </c:dPt>
          <c:dPt>
            <c:idx val="8"/>
            <c:invertIfNegative val="0"/>
            <c:bubble3D val="0"/>
            <c:extLst>
              <c:ext xmlns:c16="http://schemas.microsoft.com/office/drawing/2014/chart" uri="{C3380CC4-5D6E-409C-BE32-E72D297353CC}">
                <c16:uniqueId val="{00000011-596A-4B64-A6DA-DCA33E2CCB0D}"/>
              </c:ext>
            </c:extLst>
          </c:dPt>
          <c:dPt>
            <c:idx val="9"/>
            <c:invertIfNegative val="0"/>
            <c:bubble3D val="0"/>
            <c:extLst>
              <c:ext xmlns:c16="http://schemas.microsoft.com/office/drawing/2014/chart" uri="{C3380CC4-5D6E-409C-BE32-E72D297353CC}">
                <c16:uniqueId val="{00000013-596A-4B64-A6DA-DCA33E2CCB0D}"/>
              </c:ext>
            </c:extLst>
          </c:dPt>
          <c:dPt>
            <c:idx val="10"/>
            <c:invertIfNegative val="0"/>
            <c:bubble3D val="0"/>
            <c:extLst>
              <c:ext xmlns:c16="http://schemas.microsoft.com/office/drawing/2014/chart" uri="{C3380CC4-5D6E-409C-BE32-E72D297353CC}">
                <c16:uniqueId val="{00000015-596A-4B64-A6DA-DCA33E2CCB0D}"/>
              </c:ext>
            </c:extLst>
          </c:dPt>
          <c:dPt>
            <c:idx val="11"/>
            <c:invertIfNegative val="0"/>
            <c:bubble3D val="0"/>
            <c:extLst>
              <c:ext xmlns:c16="http://schemas.microsoft.com/office/drawing/2014/chart" uri="{C3380CC4-5D6E-409C-BE32-E72D297353CC}">
                <c16:uniqueId val="{00000017-596A-4B64-A6DA-DCA33E2CCB0D}"/>
              </c:ext>
            </c:extLst>
          </c:dPt>
          <c:dPt>
            <c:idx val="12"/>
            <c:invertIfNegative val="0"/>
            <c:bubble3D val="0"/>
            <c:extLst>
              <c:ext xmlns:c16="http://schemas.microsoft.com/office/drawing/2014/chart" uri="{C3380CC4-5D6E-409C-BE32-E72D297353CC}">
                <c16:uniqueId val="{00000019-596A-4B64-A6DA-DCA33E2CCB0D}"/>
              </c:ext>
            </c:extLst>
          </c:dPt>
          <c:cat>
            <c:strRef>
              <c:f>Sheet1!$A$2:$A$14</c:f>
              <c:strCache>
                <c:ptCount val="13"/>
                <c:pt idx="0">
                  <c:v>Texas</c:v>
                </c:pt>
                <c:pt idx="1">
                  <c:v>Illinois</c:v>
                </c:pt>
                <c:pt idx="2">
                  <c:v>North Dakota</c:v>
                </c:pt>
                <c:pt idx="3">
                  <c:v>South Dakota</c:v>
                </c:pt>
                <c:pt idx="4">
                  <c:v>Kansas</c:v>
                </c:pt>
                <c:pt idx="5">
                  <c:v>Iowa</c:v>
                </c:pt>
                <c:pt idx="6">
                  <c:v>Nebraska</c:v>
                </c:pt>
                <c:pt idx="7">
                  <c:v>Oklahoma</c:v>
                </c:pt>
                <c:pt idx="8">
                  <c:v>Missouri</c:v>
                </c:pt>
                <c:pt idx="9">
                  <c:v>Wisconsin</c:v>
                </c:pt>
                <c:pt idx="10">
                  <c:v>Minnesota</c:v>
                </c:pt>
                <c:pt idx="11">
                  <c:v>Indiana</c:v>
                </c:pt>
                <c:pt idx="12">
                  <c:v>Michigan</c:v>
                </c:pt>
              </c:strCache>
            </c:strRef>
          </c:cat>
          <c:val>
            <c:numRef>
              <c:f>Sheet1!$B$2:$B$14</c:f>
              <c:numCache>
                <c:formatCode>General</c:formatCode>
                <c:ptCount val="13"/>
                <c:pt idx="0">
                  <c:v>-25729</c:v>
                </c:pt>
                <c:pt idx="1">
                  <c:v>-12608</c:v>
                </c:pt>
                <c:pt idx="2">
                  <c:v>230</c:v>
                </c:pt>
                <c:pt idx="3">
                  <c:v>395</c:v>
                </c:pt>
                <c:pt idx="4">
                  <c:v>836</c:v>
                </c:pt>
                <c:pt idx="5">
                  <c:v>1184</c:v>
                </c:pt>
                <c:pt idx="6">
                  <c:v>2037</c:v>
                </c:pt>
                <c:pt idx="7">
                  <c:v>4854</c:v>
                </c:pt>
                <c:pt idx="8">
                  <c:v>6436</c:v>
                </c:pt>
                <c:pt idx="9">
                  <c:v>8402</c:v>
                </c:pt>
                <c:pt idx="10">
                  <c:v>10823</c:v>
                </c:pt>
                <c:pt idx="11">
                  <c:v>18383</c:v>
                </c:pt>
                <c:pt idx="12">
                  <c:v>24463</c:v>
                </c:pt>
              </c:numCache>
            </c:numRef>
          </c:val>
          <c:extLst>
            <c:ext xmlns:c16="http://schemas.microsoft.com/office/drawing/2014/chart" uri="{C3380CC4-5D6E-409C-BE32-E72D297353CC}">
              <c16:uniqueId val="{0000001A-596A-4B64-A6DA-DCA33E2CCB0D}"/>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5DEE1"/>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8316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the team behind the Central Superstore project. I'm Jowairya, and I built the Executive Overview and pulled the final workbook together. Shaza, Shehab, Haneen and Momen each owned one analysis area. Over the next few minutes we want to walk you through the story of this project: why we started, how we built it, and what the data told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a simple frustration. A superstore generates thousands of rows of sales, and a spreadsheet tells you what was sold but not whether the business is healthy. When we first added things up, the gap jumped out: about 501 thousand dollars in sales but only about 39.7 thousand dollars of profit. That is under 8 cents kept per dollar. A number like that is exactly why organisations need business intelligence, and it is why this project felt worth building.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plan was to build the whole pipeline ourselves. First a proper SQL Server data warehouse, then Tableau dashboards on top of it. Instead of making one giant dashboard, we split the business into five questions and each of us took one. I took the overall performance question, Shaza took profitability, Shehab customers, Haneen sales over time, and Momen geography and shipping. The business value is that anyone can open the workbook and move from the headline numbers down to the reason behind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raw material was a single CSV from the Central region of the Superstore dataset: 2,323 order lines and 21 columns, with orders from January 2013 to December 2016. Each row is one product on one order. Sales, quantity, discount and profit are what we measure, and customer, product, location, date and ship mode are how we slice them. One thing we noticed early is that the Region column only ever says Central, so a region comparison is a single bar. State and city became the real geography. That shaped the geography work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flat file is fine for a spreadsheet but awkward for analysis, so our first big step was the data warehouse. In SQL Server we created the CentralSuperstoreDW database with three schemas: staging, warehouse and reporting. The CSV lands untouched in a staging table with BULK INSERT. From there we split it into one fact table, where each row is an order line, and five dimensions: date, customer, product, geography and ship mode. This picture is the real diagram from SQL Server Management Studio. The reason structure matters is consistency: a total or a count means the same thing everywhere.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on one slide. Data flows left to right. The CSV is the source, SQL Server holds the staging and warehouse layers, then the validation layer is our SQL queries, the reporting view and a stored procedure. Tableau connects live to the warehouse, and on top of that sit the ten dashboards. Everything shares one data source, which is why a filter on the same field behaves the same on every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what we built, the workflow is how we worked. We began with raw data, loaded it into the warehouse, wrote SQL to validate and explore it, and only then opened Tableau. Each of us developed a dashboard on our own GitHub branch, and I merged them into one final workbook. The last step is the point of everything: turning dashboards into business insights.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told anyone what the data meant, we needed to be sure our dashboards were not lying. We took each Tableau calculation and compared it with the matching SQL query. All 13 logic checks matched, things like distinct order counts, the profit margin formula and the customer tier rules. The baseline totals were confirmed against the warehouse. The process also caught four real discrepancies, which you can see on the right. To be honest about the status, we compared the logic and the headline baseline, and a full side by side of every chart is still on our to-do list. We would rather say that clearly than pretend it is finished.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trusted warehouse behind us, I built the Executive Overview. The idea was a manager should be able to open one page and answer: how big is the business, are we profitable, and how many people buy from us? Six KPI cards do that. Total sales, total profit, margin, orders, customers and average order value. Below them sit trends, category and region mix and top products, with filters for year, category, region and segment. Note that I count orders and customers as distinct values, otherwise an order with five products would be counted five times.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story got interesting. When we split sales by category they are almost even: furniture about 164 thousand, office supplies 167 thousand, technology 170 thousand. If you only looked at sales you would say the three categories are equal partners. But the profit chart tells a different story. Technology produced about 33.7 thousand dollars, which is 84.9 percent of all profit. Office supplies made about 8.9 thousand, and furniture actually lost 2.9 thousand dollars. What surprised us most was how little the sales chart gave away. From a business perspective, that means selling more furniture does not help unless something changes. These charts are rebuilt from the dataset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Haneen's trend work answered how sales move over time. Revenue was flat at about 103 thousand dollars in 2013 and 2014, then jumped about 43 percent to 147 thousand in 2015 and held there in 2016. Looking at months, the pattern repeats every year: the strongest stretch is September to December, and February is the quietest month. Those four months together bring in 53 percent of all sales. The interesting twist is that profit did not follow growth: 2016 had the same sales as 2015 but much lower profit, which leads us into the profitability 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Shaza's analysis went inside the categories. On the left, each sub-category's profit. Copiers and phones are the heroes, together earning about 28 thousand dollars. Seven sub-categories lose money: furnishings, tables, appliances, bookcases, machines, binders and supplies. Then the question we kept asking was why. Shaza's discount analysis gave a strong hint: lines with no discount made about 76 thousand in profit, while lines discounted by more than 40 percent lost about 41 thousand. We need to be careful here: this is an association, not proof that discounts alone caused the losses, but it is a very strong signal. Binding systems even appear in both the top and bottom product lists.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Momen's geography work gave us probably the most surprising chart. Texas is by far our largest state by sales, about 170 thousand dollars, yet it lost about 25.7 thousand. Illinois is second worst, losing 12.6 thousand. In Shaza's data their average discounts are 37 and 39 percent. Michigan and Indiana, with far lower sales, earned 24 and 18 thousand. At city level Houston, San Antonio and Chicago are the biggest losers, and Detroit is the top earner. For shipping, Standard Class is the workhorse: about 61 percent of orders and 63 percent of sales. Same Day is tiny, only 62 orders, and First Class carries a higher average discount of about 27 percent.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dashboard that only shows one view answers our questions, not the viewer's. So we made the workbook interactive. Filters change by dashboard: year, category and region on the executive page, and ship mode and city on the geography page. Because all dashboards share one data source, a filter behaves the same everywhere. We added actions: clicking a category highlights it across charts, and clicking a state on the map filters the Geography Analysis page. Two parameters let people choose how many top customers to see and the profit bucket size. For navigation there is a Home page with a card for each area, and we split long pages into ten dashboards at a fixed 1400 by 900 so nothing needs scrolling.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had to put the whole analysis on one slide, these are the six findings. A very thin margin of 7.92 percent. Technology producing nearly 85 percent of profit while furniture loses money. Discounting that lines up with losses. Texas and Illinois losing over 38 thousand dollars on 250 thousand of sales. A 2016 where orders grew by a third but profit fell by 62 percent. And a business that makes more than half its sales in the last four months of the year. Every one of these comes straight from the data and dashboards, nothing is invented.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findings, here is what we would recommend. Each one follows directly from an insight. One, review the discount policy, especially above 40 percent. Two, investigate Texas and Illinois, where large sales and heavy discounts meet. Three, rethink the loss-making furniture lines like tables and bookcases, and the other loss-making sub-categories. Four, protect and grow what works: copiers, phones, and the Corporate and Home Office segments, which earn healthier margins than Consumer. Five, plan for autumn. These are suggestions based on associations in the data, so we would test them before making big changes.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Honestly, not everything went smoothly. Our first problem was that a hand-edited workbook would not load in Tableau and gave us a version error, so we stopped editing workbook files by hand and made fixes in Tableau Desktop. The date dimension had a buffer of extra dates, which created empty periods and null warnings on trend charts. The profit swing chart was blank until we set Compute Using. The map defaulted to Egypt instead of the United States. We also split big pages into ten dashboards so nothing needed scrolling. And we noticed customer tier thresholds were not identical in every file, so we aligned the final workbook with the SQL. The biggest lesson: validate early, and write down what is not finished.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tools did most of the heavy lifting. Tableau gave us the interactive dashboards. SQL Server and SSMS gave us a real database to build and query. The data warehouse design, the star schema, is what keeps every number consistent. And GitHub let five people work in parallel: each of us had a branch for our own dashboard, and I merged the results into the final workbook.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back, what we achieved is a complete pipeline: from a flat CSV to a warehouse, to ten dashboards that managers can explore. The numbers on the left give the scale. The project matters because it turns a thin 7.92 percent margin from a surprising number into something with explanations: categories, discounts, states and seasons. If we kept going, we would finish the full numeric comparison between SQL and Tableau, apply the 2013 to 2016 filter permanently, align tier thresholds everywhere, and look at delivery time using the ship dates we already have.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started with one question, why a half-million dollars of sales left so little profit, and we finished with answers about categories, discounts, states and seasons. Everything is on our GitHub repository. We're happy to take questions, and to open any dashboard live.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6"/>
                </a:solidFill>
                <a:latin typeface="Calibri" pitchFamily="34" charset="0"/>
                <a:ea typeface="Calibri" pitchFamily="34" charset="-122"/>
                <a:cs typeface="Calibri" pitchFamily="34" charset="-120"/>
              </a:rPr>
              <a:t>Central Superstore  |  Tableau Business Intelligence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463040"/>
            <a:ext cx="6400800" cy="6400800"/>
          </a:xfrm>
          <a:prstGeom prst="ellipse">
            <a:avLst/>
          </a:prstGeom>
          <a:solidFill>
            <a:schemeClr val="accent1">
              <a:alpha val="45000"/>
            </a:schemeClr>
          </a:solidFill>
          <a:ln w="12700">
            <a:solidFill>
              <a:schemeClr val="accent1">
                <a:alpha val="0"/>
              </a:schemeClr>
            </a:solidFill>
            <a:prstDash val="solid"/>
          </a:ln>
        </p:spPr>
        <p:txBody>
          <a:bodyPr/>
          <a:lstStyle/>
          <a:p>
            <a:endParaRPr lang="en-US"/>
          </a:p>
        </p:txBody>
      </p:sp>
      <p:sp>
        <p:nvSpPr>
          <p:cNvPr id="3" name="Shape 1"/>
          <p:cNvSpPr/>
          <p:nvPr/>
        </p:nvSpPr>
        <p:spPr>
          <a:xfrm>
            <a:off x="9418320" y="3291840"/>
            <a:ext cx="4206240" cy="4206240"/>
          </a:xfrm>
          <a:prstGeom prst="ellipse">
            <a:avLst/>
          </a:prstGeom>
          <a:solidFill>
            <a:schemeClr val="accent3">
              <a:alpha val="30000"/>
            </a:schemeClr>
          </a:solidFill>
          <a:ln w="12700">
            <a:solidFill>
              <a:schemeClr val="accent3">
                <a:alpha val="0"/>
              </a:schemeClr>
            </a:solidFill>
            <a:prstDash val="solid"/>
          </a:ln>
        </p:spPr>
        <p:txBody>
          <a:bodyPr/>
          <a:lstStyle/>
          <a:p>
            <a:endParaRPr lang="en-US"/>
          </a:p>
        </p:txBody>
      </p:sp>
      <p:sp>
        <p:nvSpPr>
          <p:cNvPr id="4" name="Text 2"/>
          <p:cNvSpPr txBox="1"/>
          <p:nvPr/>
        </p:nvSpPr>
        <p:spPr>
          <a:xfrm>
            <a:off x="731520" y="1249680"/>
            <a:ext cx="8229600" cy="365760"/>
          </a:xfrm>
          <a:prstGeom prst="rect">
            <a:avLst/>
          </a:prstGeom>
          <a:noFill/>
          <a:ln/>
        </p:spPr>
        <p:txBody>
          <a:bodyPr wrap="square" lIns="0" tIns="0" rIns="0" bIns="0" rtlCol="0" anchor="t"/>
          <a:lstStyle/>
          <a:p>
            <a:pPr marL="0" indent="0">
              <a:buNone/>
            </a:pPr>
            <a:r>
              <a:rPr lang="en-US" sz="1400" b="1" kern="0" spc="300" dirty="0">
                <a:solidFill>
                  <a:schemeClr val="accent3"/>
                </a:solidFill>
                <a:latin typeface="Calibri" pitchFamily="34" charset="0"/>
                <a:ea typeface="Calibri" pitchFamily="34" charset="-122"/>
                <a:cs typeface="Calibri" pitchFamily="34" charset="-120"/>
              </a:rPr>
              <a:t>TABLEAU BUSINESS INTELLIGENCE PROJECT</a:t>
            </a:r>
            <a:endParaRPr lang="en-US" sz="1400" dirty="0"/>
          </a:p>
        </p:txBody>
      </p:sp>
      <p:sp>
        <p:nvSpPr>
          <p:cNvPr id="5" name="Text 3"/>
          <p:cNvSpPr txBox="1"/>
          <p:nvPr/>
        </p:nvSpPr>
        <p:spPr>
          <a:xfrm>
            <a:off x="731520" y="2148840"/>
            <a:ext cx="9072880" cy="1666240"/>
          </a:xfrm>
          <a:prstGeom prst="rect">
            <a:avLst/>
          </a:prstGeom>
          <a:noFill/>
          <a:ln/>
        </p:spPr>
        <p:txBody>
          <a:bodyPr wrap="square" lIns="0" tIns="0" rIns="0" bIns="0" rtlCol="0" anchor="t"/>
          <a:lstStyle/>
          <a:p>
            <a:pPr marL="0" indent="0">
              <a:buNone/>
            </a:pPr>
            <a:r>
              <a:rPr lang="en-US" sz="4800" b="1" dirty="0">
                <a:solidFill>
                  <a:schemeClr val="bg1"/>
                </a:solidFill>
                <a:latin typeface="Cambria" pitchFamily="34" charset="0"/>
                <a:ea typeface="Cambria" pitchFamily="34" charset="-122"/>
                <a:cs typeface="Cambria" pitchFamily="34" charset="-120"/>
              </a:rPr>
              <a:t>Central Superstore Business Intelligence Project</a:t>
            </a:r>
            <a:endParaRPr lang="en-US" sz="4800" dirty="0"/>
          </a:p>
        </p:txBody>
      </p:sp>
      <p:sp>
        <p:nvSpPr>
          <p:cNvPr id="6" name="Text 4"/>
          <p:cNvSpPr txBox="1"/>
          <p:nvPr/>
        </p:nvSpPr>
        <p:spPr>
          <a:xfrm>
            <a:off x="731520" y="3815080"/>
            <a:ext cx="6949440" cy="822960"/>
          </a:xfrm>
          <a:prstGeom prst="rect">
            <a:avLst/>
          </a:prstGeom>
          <a:noFill/>
          <a:ln/>
        </p:spPr>
        <p:txBody>
          <a:bodyPr wrap="square" lIns="0" tIns="0" rIns="0" bIns="0" rtlCol="0" anchor="t"/>
          <a:lstStyle/>
          <a:p>
            <a:pPr marL="0" indent="0">
              <a:buNone/>
            </a:pPr>
            <a:r>
              <a:rPr lang="en-US" sz="1800" dirty="0">
                <a:solidFill>
                  <a:schemeClr val="bg2"/>
                </a:solidFill>
                <a:latin typeface="Calibri" pitchFamily="34" charset="0"/>
                <a:ea typeface="Calibri" pitchFamily="34" charset="-122"/>
                <a:cs typeface="Calibri" pitchFamily="34" charset="-120"/>
              </a:rPr>
              <a:t>From a flat CSV of 2,323 order lines to a SQL Server warehouse and a ten-dashboard Tableau story</a:t>
            </a:r>
            <a:endParaRPr lang="en-US" sz="1800" dirty="0"/>
          </a:p>
        </p:txBody>
      </p:sp>
      <p:sp>
        <p:nvSpPr>
          <p:cNvPr id="7" name="Text 5"/>
          <p:cNvSpPr txBox="1"/>
          <p:nvPr/>
        </p:nvSpPr>
        <p:spPr>
          <a:xfrm>
            <a:off x="731520" y="5135880"/>
            <a:ext cx="7315200" cy="365760"/>
          </a:xfrm>
          <a:prstGeom prst="rect">
            <a:avLst/>
          </a:prstGeom>
          <a:noFill/>
          <a:ln/>
        </p:spPr>
        <p:txBody>
          <a:bodyPr wrap="square" lIns="0" tIns="0" rIns="0" bIns="0" rtlCol="0" anchor="t"/>
          <a:lstStyle/>
          <a:p>
            <a:r>
              <a:rPr lang="en-US" sz="2000" b="1" dirty="0">
                <a:solidFill>
                  <a:schemeClr val="bg1"/>
                </a:solidFill>
                <a:latin typeface="Calibri" pitchFamily="34" charset="0"/>
                <a:ea typeface="Calibri" pitchFamily="34" charset="-122"/>
                <a:cs typeface="Calibri" pitchFamily="34" charset="-120"/>
              </a:rPr>
              <a:t>Momen, Jowairya, Shehab, Haneen. and Shaza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The business problem: lots of sales, unclear profit</a:t>
            </a:r>
            <a:endParaRPr lang="en-US" sz="3000" dirty="0"/>
          </a:p>
        </p:txBody>
      </p:sp>
      <p:sp>
        <p:nvSpPr>
          <p:cNvPr id="4" name="HookPanel"/>
          <p:cNvSpPr/>
          <p:nvPr/>
        </p:nvSpPr>
        <p:spPr>
          <a:xfrm>
            <a:off x="548640" y="1371600"/>
            <a:ext cx="4206240" cy="4754880"/>
          </a:xfrm>
          <a:prstGeom prst="roundRect">
            <a:avLst>
              <a:gd name="adj" fmla="val 2174"/>
            </a:avLst>
          </a:prstGeom>
          <a:solidFill>
            <a:schemeClr val="tx2"/>
          </a:solidFill>
          <a:ln/>
        </p:spPr>
        <p:txBody>
          <a:bodyPr/>
          <a:lstStyle/>
          <a:p>
            <a:endParaRPr lang="en-US"/>
          </a:p>
        </p:txBody>
      </p:sp>
      <p:sp>
        <p:nvSpPr>
          <p:cNvPr id="5" name="Text 2"/>
          <p:cNvSpPr txBox="1"/>
          <p:nvPr/>
        </p:nvSpPr>
        <p:spPr>
          <a:xfrm>
            <a:off x="868680" y="1955800"/>
            <a:ext cx="3566160" cy="274320"/>
          </a:xfrm>
          <a:prstGeom prst="rect">
            <a:avLst/>
          </a:prstGeom>
          <a:noFill/>
          <a:ln/>
        </p:spPr>
        <p:txBody>
          <a:bodyPr wrap="square" lIns="0" tIns="0" rIns="0" bIns="0" rtlCol="0" anchor="t"/>
          <a:lstStyle/>
          <a:p>
            <a:pPr marL="0" indent="0">
              <a:buNone/>
            </a:pPr>
            <a:r>
              <a:rPr lang="en-US" sz="1200" b="1" kern="0" spc="200" dirty="0">
                <a:solidFill>
                  <a:schemeClr val="accent3"/>
                </a:solidFill>
                <a:latin typeface="Calibri" pitchFamily="34" charset="0"/>
                <a:ea typeface="Calibri" pitchFamily="34" charset="-122"/>
                <a:cs typeface="Calibri" pitchFamily="34" charset="-120"/>
              </a:rPr>
              <a:t>WHAT WE FOUND FIRST</a:t>
            </a:r>
            <a:endParaRPr lang="en-US" sz="1200" dirty="0"/>
          </a:p>
        </p:txBody>
      </p:sp>
      <p:sp>
        <p:nvSpPr>
          <p:cNvPr id="6" name="Text 3"/>
          <p:cNvSpPr txBox="1"/>
          <p:nvPr/>
        </p:nvSpPr>
        <p:spPr>
          <a:xfrm>
            <a:off x="868680" y="2321560"/>
            <a:ext cx="3566160" cy="914400"/>
          </a:xfrm>
          <a:prstGeom prst="rect">
            <a:avLst/>
          </a:prstGeom>
          <a:noFill/>
          <a:ln/>
        </p:spPr>
        <p:txBody>
          <a:bodyPr wrap="square" lIns="0" tIns="0" rIns="0" bIns="0" rtlCol="0" anchor="t"/>
          <a:lstStyle/>
          <a:p>
            <a:pPr marL="0" indent="0">
              <a:buNone/>
            </a:pPr>
            <a:r>
              <a:rPr lang="en-US" sz="6000" b="1" dirty="0">
                <a:solidFill>
                  <a:schemeClr val="bg1"/>
                </a:solidFill>
                <a:latin typeface="Cambria" pitchFamily="34" charset="0"/>
                <a:ea typeface="Cambria" pitchFamily="34" charset="-122"/>
                <a:cs typeface="Cambria" pitchFamily="34" charset="-120"/>
              </a:rPr>
              <a:t>$501K</a:t>
            </a:r>
            <a:endParaRPr lang="en-US" sz="6000" dirty="0"/>
          </a:p>
        </p:txBody>
      </p:sp>
      <p:sp>
        <p:nvSpPr>
          <p:cNvPr id="7" name="Text 4"/>
          <p:cNvSpPr txBox="1"/>
          <p:nvPr/>
        </p:nvSpPr>
        <p:spPr>
          <a:xfrm>
            <a:off x="868680" y="3235960"/>
            <a:ext cx="3566160" cy="365760"/>
          </a:xfrm>
          <a:prstGeom prst="rect">
            <a:avLst/>
          </a:prstGeom>
          <a:noFill/>
          <a:ln/>
        </p:spPr>
        <p:txBody>
          <a:bodyPr wrap="square" lIns="0" tIns="0" rIns="0" bIns="0" rtlCol="0" anchor="t"/>
          <a:lstStyle/>
          <a:p>
            <a:pPr marL="0" indent="0">
              <a:buNone/>
            </a:pPr>
            <a:r>
              <a:rPr lang="en-US" sz="1500" dirty="0">
                <a:solidFill>
                  <a:schemeClr val="bg2"/>
                </a:solidFill>
                <a:latin typeface="Calibri" pitchFamily="34" charset="0"/>
                <a:ea typeface="Calibri" pitchFamily="34" charset="-122"/>
                <a:cs typeface="Calibri" pitchFamily="34" charset="-120"/>
              </a:rPr>
              <a:t>in sales across 2013 to 2016</a:t>
            </a:r>
            <a:endParaRPr lang="en-US" sz="1500" dirty="0"/>
          </a:p>
        </p:txBody>
      </p:sp>
      <p:sp>
        <p:nvSpPr>
          <p:cNvPr id="8" name="Text 5"/>
          <p:cNvSpPr txBox="1"/>
          <p:nvPr/>
        </p:nvSpPr>
        <p:spPr>
          <a:xfrm>
            <a:off x="868680" y="3921760"/>
            <a:ext cx="3566160" cy="914400"/>
          </a:xfrm>
          <a:prstGeom prst="rect">
            <a:avLst/>
          </a:prstGeom>
          <a:noFill/>
          <a:ln/>
        </p:spPr>
        <p:txBody>
          <a:bodyPr wrap="square" lIns="0" tIns="0" rIns="0" bIns="0" rtlCol="0" anchor="t"/>
          <a:lstStyle/>
          <a:p>
            <a:pPr marL="0" indent="0">
              <a:buNone/>
            </a:pPr>
            <a:r>
              <a:rPr lang="en-US" sz="6000" b="1" dirty="0">
                <a:solidFill>
                  <a:schemeClr val="accent3"/>
                </a:solidFill>
                <a:latin typeface="Cambria" pitchFamily="34" charset="0"/>
                <a:ea typeface="Cambria" pitchFamily="34" charset="-122"/>
                <a:cs typeface="Cambria" pitchFamily="34" charset="-120"/>
              </a:rPr>
              <a:t>$39.7K</a:t>
            </a:r>
            <a:endParaRPr lang="en-US" sz="6000" dirty="0"/>
          </a:p>
        </p:txBody>
      </p:sp>
      <p:sp>
        <p:nvSpPr>
          <p:cNvPr id="9" name="Text 6"/>
          <p:cNvSpPr txBox="1"/>
          <p:nvPr/>
        </p:nvSpPr>
        <p:spPr>
          <a:xfrm>
            <a:off x="868680" y="4836160"/>
            <a:ext cx="3566160" cy="365760"/>
          </a:xfrm>
          <a:prstGeom prst="rect">
            <a:avLst/>
          </a:prstGeom>
          <a:noFill/>
          <a:ln/>
        </p:spPr>
        <p:txBody>
          <a:bodyPr wrap="square" lIns="0" tIns="0" rIns="0" bIns="0" rtlCol="0" anchor="t"/>
          <a:lstStyle/>
          <a:p>
            <a:pPr marL="0" indent="0">
              <a:buNone/>
            </a:pPr>
            <a:r>
              <a:rPr lang="en-US" sz="1500" dirty="0">
                <a:solidFill>
                  <a:schemeClr val="bg2"/>
                </a:solidFill>
                <a:latin typeface="Calibri" pitchFamily="34" charset="0"/>
                <a:ea typeface="Calibri" pitchFamily="34" charset="-122"/>
                <a:cs typeface="Calibri" pitchFamily="34" charset="-120"/>
              </a:rPr>
              <a:t>kept as profit: a 7.92% margin</a:t>
            </a:r>
            <a:endParaRPr lang="en-US" sz="1500" dirty="0"/>
          </a:p>
        </p:txBody>
      </p:sp>
      <p:sp>
        <p:nvSpPr>
          <p:cNvPr id="10" name="ProblemCard"/>
          <p:cNvSpPr/>
          <p:nvPr/>
        </p:nvSpPr>
        <p:spPr>
          <a:xfrm>
            <a:off x="5120640" y="1371600"/>
            <a:ext cx="6492240" cy="1463040"/>
          </a:xfrm>
          <a:prstGeom prst="roundRect">
            <a:avLst>
              <a:gd name="adj" fmla="val 625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1" name="IconCircle"/>
          <p:cNvSpPr/>
          <p:nvPr/>
        </p:nvSpPr>
        <p:spPr>
          <a:xfrm>
            <a:off x="5349240" y="1737360"/>
            <a:ext cx="731520" cy="731520"/>
          </a:xfrm>
          <a:prstGeom prst="ellipse">
            <a:avLst/>
          </a:prstGeom>
          <a:solidFill>
            <a:schemeClr val="accent1"/>
          </a:solidFill>
          <a:ln/>
        </p:spPr>
        <p:txBody>
          <a:bodyPr/>
          <a:lstStyle/>
          <a:p>
            <a:endParaRPr lang="en-US"/>
          </a:p>
        </p:txBody>
      </p:sp>
      <p:pic>
        <p:nvPicPr>
          <p:cNvPr id="12" name="Image 0" descr="icon"/>
          <p:cNvPicPr>
            <a:picLocks noChangeAspect="1"/>
          </p:cNvPicPr>
          <p:nvPr/>
        </p:nvPicPr>
        <p:blipFill>
          <a:blip r:embed="rId3"/>
          <a:stretch>
            <a:fillRect/>
          </a:stretch>
        </p:blipFill>
        <p:spPr>
          <a:xfrm>
            <a:off x="5524805" y="1912925"/>
            <a:ext cx="380390" cy="380390"/>
          </a:xfrm>
          <a:prstGeom prst="rect">
            <a:avLst/>
          </a:prstGeom>
        </p:spPr>
      </p:pic>
      <p:sp>
        <p:nvSpPr>
          <p:cNvPr id="13" name="Text 9"/>
          <p:cNvSpPr txBox="1"/>
          <p:nvPr/>
        </p:nvSpPr>
        <p:spPr>
          <a:xfrm>
            <a:off x="6309360" y="1572768"/>
            <a:ext cx="512064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Sales data is easy to collect and hard to read</a:t>
            </a:r>
            <a:endParaRPr lang="en-US" sz="1800" dirty="0"/>
          </a:p>
        </p:txBody>
      </p:sp>
      <p:sp>
        <p:nvSpPr>
          <p:cNvPr id="14" name="Text 10"/>
          <p:cNvSpPr txBox="1"/>
          <p:nvPr/>
        </p:nvSpPr>
        <p:spPr>
          <a:xfrm>
            <a:off x="6309360" y="2057400"/>
            <a:ext cx="512064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Thousands of order lines do not tell a manager where money is made or lost.</a:t>
            </a:r>
            <a:endParaRPr lang="en-US" sz="1400" dirty="0"/>
          </a:p>
        </p:txBody>
      </p:sp>
      <p:sp>
        <p:nvSpPr>
          <p:cNvPr id="15" name="ProblemCard"/>
          <p:cNvSpPr/>
          <p:nvPr/>
        </p:nvSpPr>
        <p:spPr>
          <a:xfrm>
            <a:off x="5120640" y="3017520"/>
            <a:ext cx="6492240" cy="1463040"/>
          </a:xfrm>
          <a:prstGeom prst="roundRect">
            <a:avLst>
              <a:gd name="adj" fmla="val 625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6" name="IconCircle"/>
          <p:cNvSpPr/>
          <p:nvPr/>
        </p:nvSpPr>
        <p:spPr>
          <a:xfrm>
            <a:off x="5349240" y="3383280"/>
            <a:ext cx="731520" cy="731520"/>
          </a:xfrm>
          <a:prstGeom prst="ellipse">
            <a:avLst/>
          </a:prstGeom>
          <a:solidFill>
            <a:schemeClr val="accent1"/>
          </a:solidFill>
          <a:ln/>
        </p:spPr>
        <p:txBody>
          <a:bodyPr/>
          <a:lstStyle/>
          <a:p>
            <a:endParaRPr lang="en-US"/>
          </a:p>
        </p:txBody>
      </p:sp>
      <p:pic>
        <p:nvPicPr>
          <p:cNvPr id="17" name="Image 1" descr="icon"/>
          <p:cNvPicPr>
            <a:picLocks noChangeAspect="1"/>
          </p:cNvPicPr>
          <p:nvPr/>
        </p:nvPicPr>
        <p:blipFill>
          <a:blip r:embed="rId4"/>
          <a:stretch>
            <a:fillRect/>
          </a:stretch>
        </p:blipFill>
        <p:spPr>
          <a:xfrm>
            <a:off x="5524805" y="3558845"/>
            <a:ext cx="380390" cy="380390"/>
          </a:xfrm>
          <a:prstGeom prst="rect">
            <a:avLst/>
          </a:prstGeom>
        </p:spPr>
      </p:pic>
      <p:sp>
        <p:nvSpPr>
          <p:cNvPr id="18" name="Text 13"/>
          <p:cNvSpPr txBox="1"/>
          <p:nvPr/>
        </p:nvSpPr>
        <p:spPr>
          <a:xfrm>
            <a:off x="6309360" y="3218688"/>
            <a:ext cx="512064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Decisions need answers, not rows</a:t>
            </a:r>
            <a:endParaRPr lang="en-US" sz="1800" dirty="0"/>
          </a:p>
        </p:txBody>
      </p:sp>
      <p:sp>
        <p:nvSpPr>
          <p:cNvPr id="19" name="Text 14"/>
          <p:cNvSpPr txBox="1"/>
          <p:nvPr/>
        </p:nvSpPr>
        <p:spPr>
          <a:xfrm>
            <a:off x="6309360" y="3703320"/>
            <a:ext cx="512064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Which products, states, customers and months actually drive results?</a:t>
            </a:r>
            <a:endParaRPr lang="en-US" sz="1400" dirty="0"/>
          </a:p>
        </p:txBody>
      </p:sp>
      <p:sp>
        <p:nvSpPr>
          <p:cNvPr id="20" name="ProblemCard"/>
          <p:cNvSpPr/>
          <p:nvPr/>
        </p:nvSpPr>
        <p:spPr>
          <a:xfrm>
            <a:off x="5120640" y="4663440"/>
            <a:ext cx="6492240" cy="1463040"/>
          </a:xfrm>
          <a:prstGeom prst="roundRect">
            <a:avLst>
              <a:gd name="adj" fmla="val 625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1" name="IconCircle"/>
          <p:cNvSpPr/>
          <p:nvPr/>
        </p:nvSpPr>
        <p:spPr>
          <a:xfrm>
            <a:off x="5349240" y="5029200"/>
            <a:ext cx="731520" cy="731520"/>
          </a:xfrm>
          <a:prstGeom prst="ellipse">
            <a:avLst/>
          </a:prstGeom>
          <a:solidFill>
            <a:schemeClr val="accent1"/>
          </a:solidFill>
          <a:ln/>
        </p:spPr>
        <p:txBody>
          <a:bodyPr/>
          <a:lstStyle/>
          <a:p>
            <a:endParaRPr lang="en-US"/>
          </a:p>
        </p:txBody>
      </p:sp>
      <p:pic>
        <p:nvPicPr>
          <p:cNvPr id="22" name="Image 2" descr="icon"/>
          <p:cNvPicPr>
            <a:picLocks noChangeAspect="1"/>
          </p:cNvPicPr>
          <p:nvPr/>
        </p:nvPicPr>
        <p:blipFill>
          <a:blip r:embed="rId5"/>
          <a:stretch>
            <a:fillRect/>
          </a:stretch>
        </p:blipFill>
        <p:spPr>
          <a:xfrm>
            <a:off x="5524805" y="5204765"/>
            <a:ext cx="380390" cy="380390"/>
          </a:xfrm>
          <a:prstGeom prst="rect">
            <a:avLst/>
          </a:prstGeom>
        </p:spPr>
      </p:pic>
      <p:sp>
        <p:nvSpPr>
          <p:cNvPr id="23" name="Text 17"/>
          <p:cNvSpPr txBox="1"/>
          <p:nvPr/>
        </p:nvSpPr>
        <p:spPr>
          <a:xfrm>
            <a:off x="6309360" y="4864608"/>
            <a:ext cx="512064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Numbers have to be trusted</a:t>
            </a:r>
            <a:endParaRPr lang="en-US" sz="1800" dirty="0"/>
          </a:p>
        </p:txBody>
      </p:sp>
      <p:sp>
        <p:nvSpPr>
          <p:cNvPr id="24" name="Text 18"/>
          <p:cNvSpPr txBox="1"/>
          <p:nvPr/>
        </p:nvSpPr>
        <p:spPr>
          <a:xfrm>
            <a:off x="6309360" y="5349240"/>
            <a:ext cx="512064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dashboard that disagrees with the database is worse than no dashboard.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Our plan: one warehouse, five questions, five owners</a:t>
            </a:r>
            <a:endParaRPr lang="en-US" sz="3000" dirty="0"/>
          </a:p>
        </p:txBody>
      </p:sp>
      <p:sp>
        <p:nvSpPr>
          <p:cNvPr id="4" name="Text 1"/>
          <p:cNvSpPr txBox="1"/>
          <p:nvPr/>
        </p:nvSpPr>
        <p:spPr>
          <a:xfrm>
            <a:off x="548640" y="1325880"/>
            <a:ext cx="5029200" cy="274320"/>
          </a:xfrm>
          <a:prstGeom prst="rect">
            <a:avLst/>
          </a:prstGeom>
          <a:noFill/>
          <a:ln/>
        </p:spPr>
        <p:txBody>
          <a:bodyPr wrap="square" lIns="0" tIns="0" rIns="0" bIns="0" rtlCol="0" anchor="t"/>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WHAT WE SET OUT TO DO</a:t>
            </a:r>
            <a:endParaRPr lang="en-US" sz="1200" dirty="0"/>
          </a:p>
        </p:txBody>
      </p:sp>
      <p:sp>
        <p:nvSpPr>
          <p:cNvPr id="5" name="IconCircle"/>
          <p:cNvSpPr/>
          <p:nvPr/>
        </p:nvSpPr>
        <p:spPr>
          <a:xfrm>
            <a:off x="548640" y="1737360"/>
            <a:ext cx="685800" cy="685800"/>
          </a:xfrm>
          <a:prstGeom prst="ellipse">
            <a:avLst/>
          </a:prstGeom>
          <a:solidFill>
            <a:schemeClr val="accent1"/>
          </a:solidFill>
          <a:ln/>
        </p:spPr>
        <p:txBody>
          <a:bodyPr/>
          <a:lstStyle/>
          <a:p>
            <a:endParaRPr lang="en-US"/>
          </a:p>
        </p:txBody>
      </p:sp>
      <p:pic>
        <p:nvPicPr>
          <p:cNvPr id="6" name="Image 0" descr="icon"/>
          <p:cNvPicPr>
            <a:picLocks noChangeAspect="1"/>
          </p:cNvPicPr>
          <p:nvPr/>
        </p:nvPicPr>
        <p:blipFill>
          <a:blip r:embed="rId3"/>
          <a:stretch>
            <a:fillRect/>
          </a:stretch>
        </p:blipFill>
        <p:spPr>
          <a:xfrm>
            <a:off x="713232" y="1901952"/>
            <a:ext cx="356616" cy="356616"/>
          </a:xfrm>
          <a:prstGeom prst="rect">
            <a:avLst/>
          </a:prstGeom>
        </p:spPr>
      </p:pic>
      <p:sp>
        <p:nvSpPr>
          <p:cNvPr id="7" name="Text 3"/>
          <p:cNvSpPr txBox="1"/>
          <p:nvPr/>
        </p:nvSpPr>
        <p:spPr>
          <a:xfrm>
            <a:off x="1463040" y="1783080"/>
            <a:ext cx="4114800" cy="7315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Build a star-schema warehouse in SQL Server</a:t>
            </a:r>
            <a:endParaRPr lang="en-US" sz="1600" dirty="0"/>
          </a:p>
        </p:txBody>
      </p:sp>
      <p:sp>
        <p:nvSpPr>
          <p:cNvPr id="8" name="IconCircle"/>
          <p:cNvSpPr/>
          <p:nvPr/>
        </p:nvSpPr>
        <p:spPr>
          <a:xfrm>
            <a:off x="548640" y="2834640"/>
            <a:ext cx="685800" cy="685800"/>
          </a:xfrm>
          <a:prstGeom prst="ellipse">
            <a:avLst/>
          </a:prstGeom>
          <a:solidFill>
            <a:schemeClr val="accent1"/>
          </a:solidFill>
          <a:ln/>
        </p:spPr>
        <p:txBody>
          <a:bodyPr/>
          <a:lstStyle/>
          <a:p>
            <a:endParaRPr lang="en-US"/>
          </a:p>
        </p:txBody>
      </p:sp>
      <p:pic>
        <p:nvPicPr>
          <p:cNvPr id="9" name="Image 1" descr="icon"/>
          <p:cNvPicPr>
            <a:picLocks noChangeAspect="1"/>
          </p:cNvPicPr>
          <p:nvPr/>
        </p:nvPicPr>
        <p:blipFill>
          <a:blip r:embed="rId4"/>
          <a:stretch>
            <a:fillRect/>
          </a:stretch>
        </p:blipFill>
        <p:spPr>
          <a:xfrm>
            <a:off x="713232" y="2999232"/>
            <a:ext cx="356616" cy="356616"/>
          </a:xfrm>
          <a:prstGeom prst="rect">
            <a:avLst/>
          </a:prstGeom>
        </p:spPr>
      </p:pic>
      <p:sp>
        <p:nvSpPr>
          <p:cNvPr id="10" name="Text 5"/>
          <p:cNvSpPr txBox="1"/>
          <p:nvPr/>
        </p:nvSpPr>
        <p:spPr>
          <a:xfrm>
            <a:off x="1463040" y="2880360"/>
            <a:ext cx="4114800" cy="7315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Define every KPI once, so every dashboard agrees</a:t>
            </a:r>
            <a:endParaRPr lang="en-US" sz="1600" dirty="0"/>
          </a:p>
        </p:txBody>
      </p:sp>
      <p:sp>
        <p:nvSpPr>
          <p:cNvPr id="11" name="IconCircle"/>
          <p:cNvSpPr/>
          <p:nvPr/>
        </p:nvSpPr>
        <p:spPr>
          <a:xfrm>
            <a:off x="548640" y="3931920"/>
            <a:ext cx="685800" cy="685800"/>
          </a:xfrm>
          <a:prstGeom prst="ellipse">
            <a:avLst/>
          </a:prstGeom>
          <a:solidFill>
            <a:schemeClr val="accent1"/>
          </a:solidFill>
          <a:ln/>
        </p:spPr>
        <p:txBody>
          <a:bodyPr/>
          <a:lstStyle/>
          <a:p>
            <a:endParaRPr lang="en-US"/>
          </a:p>
        </p:txBody>
      </p:sp>
      <p:pic>
        <p:nvPicPr>
          <p:cNvPr id="12" name="Image 2" descr="icon"/>
          <p:cNvPicPr>
            <a:picLocks noChangeAspect="1"/>
          </p:cNvPicPr>
          <p:nvPr/>
        </p:nvPicPr>
        <p:blipFill>
          <a:blip r:embed="rId5"/>
          <a:stretch>
            <a:fillRect/>
          </a:stretch>
        </p:blipFill>
        <p:spPr>
          <a:xfrm>
            <a:off x="713232" y="4096512"/>
            <a:ext cx="356616" cy="356616"/>
          </a:xfrm>
          <a:prstGeom prst="rect">
            <a:avLst/>
          </a:prstGeom>
        </p:spPr>
      </p:pic>
      <p:sp>
        <p:nvSpPr>
          <p:cNvPr id="13" name="Text 7"/>
          <p:cNvSpPr txBox="1"/>
          <p:nvPr/>
        </p:nvSpPr>
        <p:spPr>
          <a:xfrm>
            <a:off x="1463040" y="3977640"/>
            <a:ext cx="4114800" cy="7315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Answer five business questions in Tableau</a:t>
            </a:r>
            <a:endParaRPr lang="en-US" sz="1600" dirty="0"/>
          </a:p>
        </p:txBody>
      </p:sp>
      <p:sp>
        <p:nvSpPr>
          <p:cNvPr id="14" name="IconCircle"/>
          <p:cNvSpPr/>
          <p:nvPr/>
        </p:nvSpPr>
        <p:spPr>
          <a:xfrm>
            <a:off x="548640" y="5029200"/>
            <a:ext cx="685800" cy="685800"/>
          </a:xfrm>
          <a:prstGeom prst="ellipse">
            <a:avLst/>
          </a:prstGeom>
          <a:solidFill>
            <a:schemeClr val="accent1"/>
          </a:solidFill>
          <a:ln/>
        </p:spPr>
        <p:txBody>
          <a:bodyPr/>
          <a:lstStyle/>
          <a:p>
            <a:endParaRPr lang="en-US"/>
          </a:p>
        </p:txBody>
      </p:sp>
      <p:pic>
        <p:nvPicPr>
          <p:cNvPr id="15" name="Image 3" descr="icon"/>
          <p:cNvPicPr>
            <a:picLocks noChangeAspect="1"/>
          </p:cNvPicPr>
          <p:nvPr/>
        </p:nvPicPr>
        <p:blipFill>
          <a:blip r:embed="rId6"/>
          <a:stretch>
            <a:fillRect/>
          </a:stretch>
        </p:blipFill>
        <p:spPr>
          <a:xfrm>
            <a:off x="713232" y="5193792"/>
            <a:ext cx="356616" cy="356616"/>
          </a:xfrm>
          <a:prstGeom prst="rect">
            <a:avLst/>
          </a:prstGeom>
        </p:spPr>
      </p:pic>
      <p:sp>
        <p:nvSpPr>
          <p:cNvPr id="16" name="Text 9"/>
          <p:cNvSpPr txBox="1"/>
          <p:nvPr/>
        </p:nvSpPr>
        <p:spPr>
          <a:xfrm>
            <a:off x="1463040" y="5074920"/>
            <a:ext cx="4114800" cy="7315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Check dashboard logic against SQL and document it</a:t>
            </a:r>
            <a:endParaRPr lang="en-US" sz="1600" dirty="0"/>
          </a:p>
        </p:txBody>
      </p:sp>
      <p:sp>
        <p:nvSpPr>
          <p:cNvPr id="17" name="Text 10"/>
          <p:cNvSpPr txBox="1"/>
          <p:nvPr/>
        </p:nvSpPr>
        <p:spPr>
          <a:xfrm>
            <a:off x="6126480" y="1325880"/>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THE FIVE QUESTIONS</a:t>
            </a:r>
            <a:endParaRPr lang="en-US" sz="1200" dirty="0"/>
          </a:p>
        </p:txBody>
      </p:sp>
      <p:sp>
        <p:nvSpPr>
          <p:cNvPr id="18" name="QuestionCard"/>
          <p:cNvSpPr/>
          <p:nvPr/>
        </p:nvSpPr>
        <p:spPr>
          <a:xfrm>
            <a:off x="6126480" y="1737360"/>
            <a:ext cx="5486400" cy="731520"/>
          </a:xfrm>
          <a:prstGeom prst="roundRect">
            <a:avLst>
              <a:gd name="adj" fmla="val 125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9" name="OwnerChip"/>
          <p:cNvSpPr/>
          <p:nvPr/>
        </p:nvSpPr>
        <p:spPr>
          <a:xfrm>
            <a:off x="6263640" y="1892808"/>
            <a:ext cx="1234440" cy="420624"/>
          </a:xfrm>
          <a:prstGeom prst="roundRect">
            <a:avLst>
              <a:gd name="adj" fmla="val 21739"/>
            </a:avLst>
          </a:prstGeom>
          <a:solidFill>
            <a:schemeClr val="accent1"/>
          </a:solidFill>
          <a:ln/>
        </p:spPr>
        <p:txBody>
          <a:bodyPr/>
          <a:lstStyle/>
          <a:p>
            <a:endParaRPr lang="en-US"/>
          </a:p>
        </p:txBody>
      </p:sp>
      <p:sp>
        <p:nvSpPr>
          <p:cNvPr id="20" name="Text 13"/>
          <p:cNvSpPr txBox="1"/>
          <p:nvPr/>
        </p:nvSpPr>
        <p:spPr>
          <a:xfrm>
            <a:off x="6263640" y="1892808"/>
            <a:ext cx="1234440" cy="42062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Jowairya</a:t>
            </a:r>
            <a:endParaRPr lang="en-US" sz="1300" dirty="0"/>
          </a:p>
        </p:txBody>
      </p:sp>
      <p:sp>
        <p:nvSpPr>
          <p:cNvPr id="21" name="Text 14"/>
          <p:cNvSpPr txBox="1"/>
          <p:nvPr/>
        </p:nvSpPr>
        <p:spPr>
          <a:xfrm>
            <a:off x="7680960" y="1828800"/>
            <a:ext cx="3840480" cy="5486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How is the business performing overall?</a:t>
            </a:r>
            <a:endParaRPr lang="en-US" sz="1400" dirty="0"/>
          </a:p>
        </p:txBody>
      </p:sp>
      <p:sp>
        <p:nvSpPr>
          <p:cNvPr id="22" name="QuestionCard"/>
          <p:cNvSpPr/>
          <p:nvPr/>
        </p:nvSpPr>
        <p:spPr>
          <a:xfrm>
            <a:off x="6126480" y="2606040"/>
            <a:ext cx="5486400" cy="731520"/>
          </a:xfrm>
          <a:prstGeom prst="roundRect">
            <a:avLst>
              <a:gd name="adj" fmla="val 125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3" name="OwnerChip"/>
          <p:cNvSpPr/>
          <p:nvPr/>
        </p:nvSpPr>
        <p:spPr>
          <a:xfrm>
            <a:off x="6263640" y="2761488"/>
            <a:ext cx="1234440" cy="420624"/>
          </a:xfrm>
          <a:prstGeom prst="roundRect">
            <a:avLst>
              <a:gd name="adj" fmla="val 21739"/>
            </a:avLst>
          </a:prstGeom>
          <a:solidFill>
            <a:schemeClr val="accent1"/>
          </a:solidFill>
          <a:ln/>
        </p:spPr>
        <p:txBody>
          <a:bodyPr/>
          <a:lstStyle/>
          <a:p>
            <a:endParaRPr lang="en-US"/>
          </a:p>
        </p:txBody>
      </p:sp>
      <p:sp>
        <p:nvSpPr>
          <p:cNvPr id="24" name="Text 17"/>
          <p:cNvSpPr txBox="1"/>
          <p:nvPr/>
        </p:nvSpPr>
        <p:spPr>
          <a:xfrm>
            <a:off x="6263640" y="2761488"/>
            <a:ext cx="1234440" cy="42062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Shaza</a:t>
            </a:r>
            <a:endParaRPr lang="en-US" sz="1300" dirty="0"/>
          </a:p>
        </p:txBody>
      </p:sp>
      <p:sp>
        <p:nvSpPr>
          <p:cNvPr id="25" name="Text 18"/>
          <p:cNvSpPr txBox="1"/>
          <p:nvPr/>
        </p:nvSpPr>
        <p:spPr>
          <a:xfrm>
            <a:off x="7680960" y="2697480"/>
            <a:ext cx="3840480" cy="5486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Where is profit made and lost?</a:t>
            </a:r>
            <a:endParaRPr lang="en-US" sz="1400" dirty="0"/>
          </a:p>
        </p:txBody>
      </p:sp>
      <p:sp>
        <p:nvSpPr>
          <p:cNvPr id="26" name="QuestionCard"/>
          <p:cNvSpPr/>
          <p:nvPr/>
        </p:nvSpPr>
        <p:spPr>
          <a:xfrm>
            <a:off x="6126480" y="3474720"/>
            <a:ext cx="5486400" cy="731520"/>
          </a:xfrm>
          <a:prstGeom prst="roundRect">
            <a:avLst>
              <a:gd name="adj" fmla="val 125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7" name="OwnerChip"/>
          <p:cNvSpPr/>
          <p:nvPr/>
        </p:nvSpPr>
        <p:spPr>
          <a:xfrm>
            <a:off x="6263640" y="3630168"/>
            <a:ext cx="1234440" cy="420624"/>
          </a:xfrm>
          <a:prstGeom prst="roundRect">
            <a:avLst>
              <a:gd name="adj" fmla="val 21739"/>
            </a:avLst>
          </a:prstGeom>
          <a:solidFill>
            <a:schemeClr val="accent1"/>
          </a:solidFill>
          <a:ln/>
        </p:spPr>
        <p:txBody>
          <a:bodyPr/>
          <a:lstStyle/>
          <a:p>
            <a:endParaRPr lang="en-US"/>
          </a:p>
        </p:txBody>
      </p:sp>
      <p:sp>
        <p:nvSpPr>
          <p:cNvPr id="28" name="Text 21"/>
          <p:cNvSpPr txBox="1"/>
          <p:nvPr/>
        </p:nvSpPr>
        <p:spPr>
          <a:xfrm>
            <a:off x="6263640" y="3630168"/>
            <a:ext cx="1234440" cy="42062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Shehab</a:t>
            </a:r>
            <a:endParaRPr lang="en-US" sz="1300" dirty="0"/>
          </a:p>
        </p:txBody>
      </p:sp>
      <p:sp>
        <p:nvSpPr>
          <p:cNvPr id="29" name="Text 22"/>
          <p:cNvSpPr txBox="1"/>
          <p:nvPr/>
        </p:nvSpPr>
        <p:spPr>
          <a:xfrm>
            <a:off x="7680960" y="3566160"/>
            <a:ext cx="3840480" cy="5486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Who are our customers and how do they behave?</a:t>
            </a:r>
            <a:endParaRPr lang="en-US" sz="1400" dirty="0"/>
          </a:p>
        </p:txBody>
      </p:sp>
      <p:sp>
        <p:nvSpPr>
          <p:cNvPr id="30" name="QuestionCard"/>
          <p:cNvSpPr/>
          <p:nvPr/>
        </p:nvSpPr>
        <p:spPr>
          <a:xfrm>
            <a:off x="6126480" y="4343400"/>
            <a:ext cx="5486400" cy="731520"/>
          </a:xfrm>
          <a:prstGeom prst="roundRect">
            <a:avLst>
              <a:gd name="adj" fmla="val 125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1" name="OwnerChip"/>
          <p:cNvSpPr/>
          <p:nvPr/>
        </p:nvSpPr>
        <p:spPr>
          <a:xfrm>
            <a:off x="6263640" y="4498848"/>
            <a:ext cx="1234440" cy="420624"/>
          </a:xfrm>
          <a:prstGeom prst="roundRect">
            <a:avLst>
              <a:gd name="adj" fmla="val 21739"/>
            </a:avLst>
          </a:prstGeom>
          <a:solidFill>
            <a:schemeClr val="accent1"/>
          </a:solidFill>
          <a:ln/>
        </p:spPr>
        <p:txBody>
          <a:bodyPr/>
          <a:lstStyle/>
          <a:p>
            <a:endParaRPr lang="en-US"/>
          </a:p>
        </p:txBody>
      </p:sp>
      <p:sp>
        <p:nvSpPr>
          <p:cNvPr id="32" name="Text 25"/>
          <p:cNvSpPr txBox="1"/>
          <p:nvPr/>
        </p:nvSpPr>
        <p:spPr>
          <a:xfrm>
            <a:off x="6263640" y="4498848"/>
            <a:ext cx="1234440" cy="42062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Haneen</a:t>
            </a:r>
            <a:endParaRPr lang="en-US" sz="1300" dirty="0"/>
          </a:p>
        </p:txBody>
      </p:sp>
      <p:sp>
        <p:nvSpPr>
          <p:cNvPr id="33" name="Text 26"/>
          <p:cNvSpPr txBox="1"/>
          <p:nvPr/>
        </p:nvSpPr>
        <p:spPr>
          <a:xfrm>
            <a:off x="7680960" y="4434840"/>
            <a:ext cx="3840480" cy="5486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How do sales change over time?</a:t>
            </a:r>
            <a:endParaRPr lang="en-US" sz="1400" dirty="0"/>
          </a:p>
        </p:txBody>
      </p:sp>
      <p:sp>
        <p:nvSpPr>
          <p:cNvPr id="34" name="QuestionCard"/>
          <p:cNvSpPr/>
          <p:nvPr/>
        </p:nvSpPr>
        <p:spPr>
          <a:xfrm>
            <a:off x="6126480" y="5212080"/>
            <a:ext cx="5486400" cy="731520"/>
          </a:xfrm>
          <a:prstGeom prst="roundRect">
            <a:avLst>
              <a:gd name="adj" fmla="val 125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5" name="OwnerChip"/>
          <p:cNvSpPr/>
          <p:nvPr/>
        </p:nvSpPr>
        <p:spPr>
          <a:xfrm>
            <a:off x="6263640" y="5367528"/>
            <a:ext cx="1234440" cy="420624"/>
          </a:xfrm>
          <a:prstGeom prst="roundRect">
            <a:avLst>
              <a:gd name="adj" fmla="val 21739"/>
            </a:avLst>
          </a:prstGeom>
          <a:solidFill>
            <a:schemeClr val="accent1"/>
          </a:solidFill>
          <a:ln/>
        </p:spPr>
        <p:txBody>
          <a:bodyPr/>
          <a:lstStyle/>
          <a:p>
            <a:endParaRPr lang="en-US"/>
          </a:p>
        </p:txBody>
      </p:sp>
      <p:sp>
        <p:nvSpPr>
          <p:cNvPr id="36" name="Text 29"/>
          <p:cNvSpPr txBox="1"/>
          <p:nvPr/>
        </p:nvSpPr>
        <p:spPr>
          <a:xfrm>
            <a:off x="6263640" y="5367528"/>
            <a:ext cx="1234440" cy="42062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Momen</a:t>
            </a:r>
            <a:endParaRPr lang="en-US" sz="1300" dirty="0"/>
          </a:p>
        </p:txBody>
      </p:sp>
      <p:sp>
        <p:nvSpPr>
          <p:cNvPr id="37" name="Text 30"/>
          <p:cNvSpPr txBox="1"/>
          <p:nvPr/>
        </p:nvSpPr>
        <p:spPr>
          <a:xfrm>
            <a:off x="7680960" y="5303520"/>
            <a:ext cx="3840480" cy="54864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Where do we sell, and how do we ship?</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Understanding the data: one flat file, four years of orders</a:t>
            </a:r>
            <a:endParaRPr lang="en-US" sz="3000" dirty="0"/>
          </a:p>
        </p:txBody>
      </p:sp>
      <p:sp>
        <p:nvSpPr>
          <p:cNvPr id="4" name="StatCard"/>
          <p:cNvSpPr/>
          <p:nvPr/>
        </p:nvSpPr>
        <p:spPr>
          <a:xfrm>
            <a:off x="548640" y="1371600"/>
            <a:ext cx="2651760" cy="1325880"/>
          </a:xfrm>
          <a:prstGeom prst="roundRect">
            <a:avLst>
              <a:gd name="adj" fmla="val 689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Text 2"/>
          <p:cNvSpPr txBox="1"/>
          <p:nvPr/>
        </p:nvSpPr>
        <p:spPr>
          <a:xfrm>
            <a:off x="548640" y="1508760"/>
            <a:ext cx="265176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2,323</a:t>
            </a:r>
            <a:endParaRPr lang="en-US" sz="4000" dirty="0"/>
          </a:p>
        </p:txBody>
      </p:sp>
      <p:sp>
        <p:nvSpPr>
          <p:cNvPr id="6" name="Text 3"/>
          <p:cNvSpPr txBox="1"/>
          <p:nvPr/>
        </p:nvSpPr>
        <p:spPr>
          <a:xfrm>
            <a:off x="548640" y="2240280"/>
            <a:ext cx="2651760" cy="32004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order lines</a:t>
            </a:r>
            <a:endParaRPr lang="en-US" sz="1400" dirty="0"/>
          </a:p>
        </p:txBody>
      </p:sp>
      <p:sp>
        <p:nvSpPr>
          <p:cNvPr id="7" name="StatCard"/>
          <p:cNvSpPr/>
          <p:nvPr/>
        </p:nvSpPr>
        <p:spPr>
          <a:xfrm>
            <a:off x="3383280" y="1371600"/>
            <a:ext cx="2651760" cy="1325880"/>
          </a:xfrm>
          <a:prstGeom prst="roundRect">
            <a:avLst>
              <a:gd name="adj" fmla="val 689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3383280" y="1508760"/>
            <a:ext cx="265176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21</a:t>
            </a:r>
            <a:endParaRPr lang="en-US" sz="4000" dirty="0"/>
          </a:p>
        </p:txBody>
      </p:sp>
      <p:sp>
        <p:nvSpPr>
          <p:cNvPr id="9" name="Text 6"/>
          <p:cNvSpPr txBox="1"/>
          <p:nvPr/>
        </p:nvSpPr>
        <p:spPr>
          <a:xfrm>
            <a:off x="3383280" y="2240280"/>
            <a:ext cx="2651760" cy="32004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columns</a:t>
            </a:r>
            <a:endParaRPr lang="en-US" sz="1400" dirty="0"/>
          </a:p>
        </p:txBody>
      </p:sp>
      <p:sp>
        <p:nvSpPr>
          <p:cNvPr id="10" name="StatCard"/>
          <p:cNvSpPr/>
          <p:nvPr/>
        </p:nvSpPr>
        <p:spPr>
          <a:xfrm>
            <a:off x="6217920" y="1371600"/>
            <a:ext cx="2651760" cy="1325880"/>
          </a:xfrm>
          <a:prstGeom prst="roundRect">
            <a:avLst>
              <a:gd name="adj" fmla="val 689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1" name="Text 8"/>
          <p:cNvSpPr txBox="1"/>
          <p:nvPr/>
        </p:nvSpPr>
        <p:spPr>
          <a:xfrm>
            <a:off x="6217920" y="1508760"/>
            <a:ext cx="265176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13</a:t>
            </a:r>
            <a:endParaRPr lang="en-US" sz="4000" dirty="0"/>
          </a:p>
        </p:txBody>
      </p:sp>
      <p:sp>
        <p:nvSpPr>
          <p:cNvPr id="12" name="Text 9"/>
          <p:cNvSpPr txBox="1"/>
          <p:nvPr/>
        </p:nvSpPr>
        <p:spPr>
          <a:xfrm>
            <a:off x="6217920" y="2240280"/>
            <a:ext cx="2651760" cy="32004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states</a:t>
            </a:r>
            <a:endParaRPr lang="en-US" sz="1400" dirty="0"/>
          </a:p>
        </p:txBody>
      </p:sp>
      <p:sp>
        <p:nvSpPr>
          <p:cNvPr id="13" name="StatCard"/>
          <p:cNvSpPr/>
          <p:nvPr/>
        </p:nvSpPr>
        <p:spPr>
          <a:xfrm>
            <a:off x="9052560" y="1371600"/>
            <a:ext cx="2651760" cy="1325880"/>
          </a:xfrm>
          <a:prstGeom prst="roundRect">
            <a:avLst>
              <a:gd name="adj" fmla="val 689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4" name="Text 11"/>
          <p:cNvSpPr txBox="1"/>
          <p:nvPr/>
        </p:nvSpPr>
        <p:spPr>
          <a:xfrm>
            <a:off x="9052560" y="1508760"/>
            <a:ext cx="2651760" cy="731520"/>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2013 to 2016</a:t>
            </a:r>
            <a:endParaRPr lang="en-US" sz="2600" dirty="0"/>
          </a:p>
        </p:txBody>
      </p:sp>
      <p:sp>
        <p:nvSpPr>
          <p:cNvPr id="15" name="Text 12"/>
          <p:cNvSpPr txBox="1"/>
          <p:nvPr/>
        </p:nvSpPr>
        <p:spPr>
          <a:xfrm>
            <a:off x="9052560" y="2240280"/>
            <a:ext cx="2651760" cy="32004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order dates</a:t>
            </a:r>
            <a:endParaRPr lang="en-US" sz="1400" dirty="0"/>
          </a:p>
        </p:txBody>
      </p:sp>
      <p:sp>
        <p:nvSpPr>
          <p:cNvPr id="16" name="DimCard"/>
          <p:cNvSpPr/>
          <p:nvPr/>
        </p:nvSpPr>
        <p:spPr>
          <a:xfrm>
            <a:off x="548640" y="3017520"/>
            <a:ext cx="5486400" cy="3154680"/>
          </a:xfrm>
          <a:prstGeom prst="roundRect">
            <a:avLst>
              <a:gd name="adj" fmla="val 289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7" name="IconCircle"/>
          <p:cNvSpPr/>
          <p:nvPr/>
        </p:nvSpPr>
        <p:spPr>
          <a:xfrm>
            <a:off x="777240" y="3200400"/>
            <a:ext cx="548640" cy="548640"/>
          </a:xfrm>
          <a:prstGeom prst="ellipse">
            <a:avLst/>
          </a:prstGeom>
          <a:solidFill>
            <a:schemeClr val="accent1"/>
          </a:solidFill>
          <a:ln/>
        </p:spPr>
        <p:txBody>
          <a:bodyPr/>
          <a:lstStyle/>
          <a:p>
            <a:endParaRPr lang="en-US"/>
          </a:p>
        </p:txBody>
      </p:sp>
      <p:pic>
        <p:nvPicPr>
          <p:cNvPr id="18" name="Image 0" descr="icon"/>
          <p:cNvPicPr>
            <a:picLocks noChangeAspect="1"/>
          </p:cNvPicPr>
          <p:nvPr/>
        </p:nvPicPr>
        <p:blipFill>
          <a:blip r:embed="rId3"/>
          <a:stretch>
            <a:fillRect/>
          </a:stretch>
        </p:blipFill>
        <p:spPr>
          <a:xfrm>
            <a:off x="908914" y="3332074"/>
            <a:ext cx="285293" cy="285293"/>
          </a:xfrm>
          <a:prstGeom prst="rect">
            <a:avLst/>
          </a:prstGeom>
        </p:spPr>
      </p:pic>
      <p:sp>
        <p:nvSpPr>
          <p:cNvPr id="19" name="Text 15"/>
          <p:cNvSpPr txBox="1"/>
          <p:nvPr/>
        </p:nvSpPr>
        <p:spPr>
          <a:xfrm>
            <a:off x="1508760" y="3246120"/>
            <a:ext cx="4389120" cy="45720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How we slice it (dimensions)</a:t>
            </a:r>
            <a:endParaRPr lang="en-US" sz="1800" dirty="0"/>
          </a:p>
        </p:txBody>
      </p:sp>
      <p:sp>
        <p:nvSpPr>
          <p:cNvPr id="20" name="Text 16"/>
          <p:cNvSpPr txBox="1"/>
          <p:nvPr/>
        </p:nvSpPr>
        <p:spPr>
          <a:xfrm>
            <a:off x="822960" y="3931920"/>
            <a:ext cx="50292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Customer: ID, name, segment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Product: ID, name, category, sub-category</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Geography: state, city, postal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Date: order date and ship date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Ship mode: four delivery options</a:t>
            </a:r>
            <a:endParaRPr lang="en-US" sz="1600" dirty="0"/>
          </a:p>
        </p:txBody>
      </p:sp>
      <p:sp>
        <p:nvSpPr>
          <p:cNvPr id="21" name="MeasureCard"/>
          <p:cNvSpPr/>
          <p:nvPr/>
        </p:nvSpPr>
        <p:spPr>
          <a:xfrm>
            <a:off x="6217920" y="3017520"/>
            <a:ext cx="5394960" cy="3154680"/>
          </a:xfrm>
          <a:prstGeom prst="roundRect">
            <a:avLst>
              <a:gd name="adj" fmla="val 289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2" name="IconCircle"/>
          <p:cNvSpPr/>
          <p:nvPr/>
        </p:nvSpPr>
        <p:spPr>
          <a:xfrm>
            <a:off x="6446520" y="3200400"/>
            <a:ext cx="548640" cy="548640"/>
          </a:xfrm>
          <a:prstGeom prst="ellipse">
            <a:avLst/>
          </a:prstGeom>
          <a:solidFill>
            <a:schemeClr val="accent2"/>
          </a:solidFill>
          <a:ln/>
        </p:spPr>
        <p:txBody>
          <a:bodyPr/>
          <a:lstStyle/>
          <a:p>
            <a:endParaRPr lang="en-US"/>
          </a:p>
        </p:txBody>
      </p:sp>
      <p:pic>
        <p:nvPicPr>
          <p:cNvPr id="23" name="Image 1" descr="icon"/>
          <p:cNvPicPr>
            <a:picLocks noChangeAspect="1"/>
          </p:cNvPicPr>
          <p:nvPr/>
        </p:nvPicPr>
        <p:blipFill>
          <a:blip r:embed="rId4"/>
          <a:stretch>
            <a:fillRect/>
          </a:stretch>
        </p:blipFill>
        <p:spPr>
          <a:xfrm>
            <a:off x="6578194" y="3332074"/>
            <a:ext cx="285293" cy="285293"/>
          </a:xfrm>
          <a:prstGeom prst="rect">
            <a:avLst/>
          </a:prstGeom>
        </p:spPr>
      </p:pic>
      <p:sp>
        <p:nvSpPr>
          <p:cNvPr id="24" name="Text 19"/>
          <p:cNvSpPr txBox="1"/>
          <p:nvPr/>
        </p:nvSpPr>
        <p:spPr>
          <a:xfrm>
            <a:off x="7178040" y="3246120"/>
            <a:ext cx="4297680" cy="45720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What we measure (measures)</a:t>
            </a:r>
            <a:endParaRPr lang="en-US" sz="1800" dirty="0"/>
          </a:p>
        </p:txBody>
      </p:sp>
      <p:sp>
        <p:nvSpPr>
          <p:cNvPr id="25" name="Text 20"/>
          <p:cNvSpPr txBox="1"/>
          <p:nvPr/>
        </p:nvSpPr>
        <p:spPr>
          <a:xfrm>
            <a:off x="6492240" y="393192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Sales, the revenue of each line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Profit, which can be negative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Discount, a rate from 0 to 80%</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Quantity, units on the line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Order ID, so we can count real orders</a:t>
            </a:r>
            <a:endParaRPr lang="en-US" sz="16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Building the foundation: from CSV to a star schema</a:t>
            </a:r>
            <a:endParaRPr lang="en-US" sz="3000" dirty="0"/>
          </a:p>
        </p:txBody>
      </p:sp>
      <p:sp>
        <p:nvSpPr>
          <p:cNvPr id="4" name="StepNumber"/>
          <p:cNvSpPr/>
          <p:nvPr/>
        </p:nvSpPr>
        <p:spPr>
          <a:xfrm>
            <a:off x="548640" y="1417320"/>
            <a:ext cx="548640" cy="548640"/>
          </a:xfrm>
          <a:prstGeom prst="ellipse">
            <a:avLst/>
          </a:prstGeom>
          <a:solidFill>
            <a:schemeClr val="accent1"/>
          </a:solidFill>
          <a:ln/>
        </p:spPr>
        <p:txBody>
          <a:bodyPr/>
          <a:lstStyle/>
          <a:p>
            <a:endParaRPr lang="en-US"/>
          </a:p>
        </p:txBody>
      </p:sp>
      <p:sp>
        <p:nvSpPr>
          <p:cNvPr id="5" name="Text 2"/>
          <p:cNvSpPr txBox="1"/>
          <p:nvPr/>
        </p:nvSpPr>
        <p:spPr>
          <a:xfrm>
            <a:off x="548640" y="14173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ext 3"/>
          <p:cNvSpPr txBox="1"/>
          <p:nvPr/>
        </p:nvSpPr>
        <p:spPr>
          <a:xfrm>
            <a:off x="1325880" y="1371600"/>
            <a:ext cx="356616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Land the CSV in stg.CentralSuperstoreRaw with BULK INSERT</a:t>
            </a:r>
            <a:endParaRPr lang="en-US" sz="1500" dirty="0"/>
          </a:p>
        </p:txBody>
      </p:sp>
      <p:sp>
        <p:nvSpPr>
          <p:cNvPr id="7" name="StepNumber"/>
          <p:cNvSpPr/>
          <p:nvPr/>
        </p:nvSpPr>
        <p:spPr>
          <a:xfrm>
            <a:off x="548640" y="2606040"/>
            <a:ext cx="548640" cy="548640"/>
          </a:xfrm>
          <a:prstGeom prst="ellipse">
            <a:avLst/>
          </a:prstGeom>
          <a:solidFill>
            <a:schemeClr val="accent1"/>
          </a:solidFill>
          <a:ln/>
        </p:spPr>
        <p:txBody>
          <a:bodyPr/>
          <a:lstStyle/>
          <a:p>
            <a:endParaRPr lang="en-US"/>
          </a:p>
        </p:txBody>
      </p:sp>
      <p:sp>
        <p:nvSpPr>
          <p:cNvPr id="8" name="Text 5"/>
          <p:cNvSpPr txBox="1"/>
          <p:nvPr/>
        </p:nvSpPr>
        <p:spPr>
          <a:xfrm>
            <a:off x="548640" y="26060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9" name="Text 6"/>
          <p:cNvSpPr txBox="1"/>
          <p:nvPr/>
        </p:nvSpPr>
        <p:spPr>
          <a:xfrm>
            <a:off x="1325880" y="2560320"/>
            <a:ext cx="356616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Build five dimensions from the distinct values</a:t>
            </a:r>
            <a:endParaRPr lang="en-US" sz="1500" dirty="0"/>
          </a:p>
        </p:txBody>
      </p:sp>
      <p:sp>
        <p:nvSpPr>
          <p:cNvPr id="10" name="StepNumber"/>
          <p:cNvSpPr/>
          <p:nvPr/>
        </p:nvSpPr>
        <p:spPr>
          <a:xfrm>
            <a:off x="548640" y="3794760"/>
            <a:ext cx="548640" cy="548640"/>
          </a:xfrm>
          <a:prstGeom prst="ellipse">
            <a:avLst/>
          </a:prstGeom>
          <a:solidFill>
            <a:schemeClr val="accent1"/>
          </a:solidFill>
          <a:ln/>
        </p:spPr>
        <p:txBody>
          <a:bodyPr/>
          <a:lstStyle/>
          <a:p>
            <a:endParaRPr lang="en-US"/>
          </a:p>
        </p:txBody>
      </p:sp>
      <p:sp>
        <p:nvSpPr>
          <p:cNvPr id="11" name="Text 8"/>
          <p:cNvSpPr txBox="1"/>
          <p:nvPr/>
        </p:nvSpPr>
        <p:spPr>
          <a:xfrm>
            <a:off x="54864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2" name="Text 9"/>
          <p:cNvSpPr txBox="1"/>
          <p:nvPr/>
        </p:nvSpPr>
        <p:spPr>
          <a:xfrm>
            <a:off x="1325880" y="3749040"/>
            <a:ext cx="356616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Load dw.fact_Sales and swap natural keys for surrogate keys</a:t>
            </a:r>
            <a:endParaRPr lang="en-US" sz="1500" dirty="0"/>
          </a:p>
        </p:txBody>
      </p:sp>
      <p:sp>
        <p:nvSpPr>
          <p:cNvPr id="13" name="StepNumber"/>
          <p:cNvSpPr/>
          <p:nvPr/>
        </p:nvSpPr>
        <p:spPr>
          <a:xfrm>
            <a:off x="548640" y="4983480"/>
            <a:ext cx="548640" cy="548640"/>
          </a:xfrm>
          <a:prstGeom prst="ellipse">
            <a:avLst/>
          </a:prstGeom>
          <a:solidFill>
            <a:schemeClr val="accent1"/>
          </a:solidFill>
          <a:ln/>
        </p:spPr>
        <p:txBody>
          <a:bodyPr/>
          <a:lstStyle/>
          <a:p>
            <a:endParaRPr lang="en-US"/>
          </a:p>
        </p:txBody>
      </p:sp>
      <p:sp>
        <p:nvSpPr>
          <p:cNvPr id="14" name="Text 11"/>
          <p:cNvSpPr txBox="1"/>
          <p:nvPr/>
        </p:nvSpPr>
        <p:spPr>
          <a:xfrm>
            <a:off x="548640" y="49834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15" name="Text 12"/>
          <p:cNvSpPr txBox="1"/>
          <p:nvPr/>
        </p:nvSpPr>
        <p:spPr>
          <a:xfrm>
            <a:off x="1325880" y="4937760"/>
            <a:ext cx="356616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Add indexes, then the 20 analytics queries, a view and a stored procedure</a:t>
            </a:r>
            <a:endParaRPr lang="en-US" sz="1500" dirty="0"/>
          </a:p>
        </p:txBody>
      </p:sp>
      <p:sp>
        <p:nvSpPr>
          <p:cNvPr id="16" name="ImageCard"/>
          <p:cNvSpPr/>
          <p:nvPr/>
        </p:nvSpPr>
        <p:spPr>
          <a:xfrm>
            <a:off x="5166360" y="1325880"/>
            <a:ext cx="6446520" cy="4434840"/>
          </a:xfrm>
          <a:prstGeom prst="roundRect">
            <a:avLst>
              <a:gd name="adj" fmla="val 2062"/>
            </a:avLst>
          </a:prstGeom>
          <a:solidFill>
            <a:schemeClr val="bg2"/>
          </a:solidFill>
          <a:ln/>
          <a:effectLst>
            <a:outerShdw blurRad="101600" dist="25400" dir="5400000" algn="bl" rotWithShape="0">
              <a:srgbClr val="000000">
                <a:alpha val="10000"/>
              </a:srgbClr>
            </a:outerShdw>
          </a:effectLst>
        </p:spPr>
        <p:txBody>
          <a:bodyPr/>
          <a:lstStyle/>
          <a:p>
            <a:endParaRPr lang="en-US"/>
          </a:p>
        </p:txBody>
      </p:sp>
      <p:pic>
        <p:nvPicPr>
          <p:cNvPr id="17" name="Image 0" descr="SQL Server star schema diagram showing fact_Sales linked to five dimension tables"/>
          <p:cNvPicPr>
            <a:picLocks noChangeAspect="1"/>
          </p:cNvPicPr>
          <p:nvPr/>
        </p:nvPicPr>
        <p:blipFill>
          <a:blip r:embed="rId3"/>
          <a:stretch>
            <a:fillRect/>
          </a:stretch>
        </p:blipFill>
        <p:spPr>
          <a:xfrm>
            <a:off x="5349240" y="1481328"/>
            <a:ext cx="5806440" cy="4160520"/>
          </a:xfrm>
          <a:prstGeom prst="rect">
            <a:avLst/>
          </a:prstGeom>
        </p:spPr>
      </p:pic>
      <p:sp>
        <p:nvSpPr>
          <p:cNvPr id="18" name="Text 14"/>
          <p:cNvSpPr txBox="1"/>
          <p:nvPr/>
        </p:nvSpPr>
        <p:spPr>
          <a:xfrm>
            <a:off x="5166360" y="5852160"/>
            <a:ext cx="6446520" cy="457200"/>
          </a:xfrm>
          <a:prstGeom prst="rect">
            <a:avLst/>
          </a:prstGeom>
          <a:noFill/>
          <a:ln/>
        </p:spPr>
        <p:txBody>
          <a:bodyPr wrap="square" lIns="0" tIns="0" rIns="0" bIns="0" rtlCol="0" anchor="t"/>
          <a:lstStyle/>
          <a:p>
            <a:pPr marL="0" indent="0">
              <a:buNone/>
            </a:pPr>
            <a:r>
              <a:rPr lang="en-US" sz="1200" i="1" dirty="0">
                <a:solidFill>
                  <a:srgbClr val="000000"/>
                </a:solidFill>
                <a:latin typeface="Calibri" pitchFamily="34" charset="0"/>
                <a:ea typeface="Calibri" pitchFamily="34" charset="-122"/>
                <a:cs typeface="Calibri" pitchFamily="34" charset="-120"/>
              </a:rPr>
              <a:t>Our star schema in SQL Server Management Studio: dw.fact_Sales at the centre, five dimensions around it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Project architecture: five layers, each with a job</a:t>
            </a:r>
            <a:endParaRPr lang="en-US" sz="3000" dirty="0"/>
          </a:p>
        </p:txBody>
      </p:sp>
      <p:sp>
        <p:nvSpPr>
          <p:cNvPr id="4" name="LayerCard"/>
          <p:cNvSpPr/>
          <p:nvPr/>
        </p:nvSpPr>
        <p:spPr>
          <a:xfrm>
            <a:off x="548640" y="1737360"/>
            <a:ext cx="2011680" cy="3749040"/>
          </a:xfrm>
          <a:prstGeom prst="roundRect">
            <a:avLst>
              <a:gd name="adj" fmla="val 454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IconCircle"/>
          <p:cNvSpPr/>
          <p:nvPr/>
        </p:nvSpPr>
        <p:spPr>
          <a:xfrm>
            <a:off x="1188720" y="1965960"/>
            <a:ext cx="731520" cy="731520"/>
          </a:xfrm>
          <a:prstGeom prst="ellipse">
            <a:avLst/>
          </a:prstGeom>
          <a:solidFill>
            <a:schemeClr val="tx2"/>
          </a:solidFill>
          <a:ln/>
        </p:spPr>
        <p:txBody>
          <a:bodyPr/>
          <a:lstStyle/>
          <a:p>
            <a:endParaRPr lang="en-US"/>
          </a:p>
        </p:txBody>
      </p:sp>
      <p:pic>
        <p:nvPicPr>
          <p:cNvPr id="6" name="Image 0" descr="icon"/>
          <p:cNvPicPr>
            <a:picLocks noChangeAspect="1"/>
          </p:cNvPicPr>
          <p:nvPr/>
        </p:nvPicPr>
        <p:blipFill>
          <a:blip r:embed="rId3"/>
          <a:stretch>
            <a:fillRect/>
          </a:stretch>
        </p:blipFill>
        <p:spPr>
          <a:xfrm>
            <a:off x="1364285" y="2141525"/>
            <a:ext cx="380390" cy="380390"/>
          </a:xfrm>
          <a:prstGeom prst="rect">
            <a:avLst/>
          </a:prstGeom>
        </p:spPr>
      </p:pic>
      <p:sp>
        <p:nvSpPr>
          <p:cNvPr id="7" name="Text 3"/>
          <p:cNvSpPr txBox="1"/>
          <p:nvPr/>
        </p:nvSpPr>
        <p:spPr>
          <a:xfrm>
            <a:off x="640080" y="2880360"/>
            <a:ext cx="182880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Cambria" pitchFamily="34" charset="0"/>
                <a:ea typeface="Cambria" pitchFamily="34" charset="-122"/>
                <a:cs typeface="Cambria" pitchFamily="34" charset="-120"/>
              </a:rPr>
              <a:t>Data source</a:t>
            </a:r>
            <a:endParaRPr lang="en-US" sz="1700" dirty="0"/>
          </a:p>
        </p:txBody>
      </p:sp>
      <p:sp>
        <p:nvSpPr>
          <p:cNvPr id="8" name="Text 4"/>
          <p:cNvSpPr txBox="1"/>
          <p:nvPr/>
        </p:nvSpPr>
        <p:spPr>
          <a:xfrm>
            <a:off x="640080" y="3337560"/>
            <a:ext cx="1828800" cy="548640"/>
          </a:xfrm>
          <a:prstGeom prst="rect">
            <a:avLst/>
          </a:prstGeom>
          <a:noFill/>
          <a:ln/>
        </p:spPr>
        <p:txBody>
          <a:bodyPr wrap="square" lIns="0" tIns="0" rIns="0" bIns="0" rtlCol="0" anchor="t"/>
          <a:lstStyle/>
          <a:p>
            <a:pPr marL="0" indent="0" algn="ctr">
              <a:buNone/>
            </a:pPr>
            <a:r>
              <a:rPr lang="en-US" sz="1400" b="1" dirty="0">
                <a:solidFill>
                  <a:schemeClr val="accent1"/>
                </a:solidFill>
                <a:latin typeface="Calibri" pitchFamily="34" charset="0"/>
                <a:ea typeface="Calibri" pitchFamily="34" charset="-122"/>
                <a:cs typeface="Calibri" pitchFamily="34" charset="-120"/>
              </a:rPr>
              <a:t>Central_Superstore.csv</a:t>
            </a:r>
            <a:endParaRPr lang="en-US" sz="1400" dirty="0"/>
          </a:p>
        </p:txBody>
      </p:sp>
      <p:sp>
        <p:nvSpPr>
          <p:cNvPr id="9" name="Text 5"/>
          <p:cNvSpPr txBox="1"/>
          <p:nvPr/>
        </p:nvSpPr>
        <p:spPr>
          <a:xfrm>
            <a:off x="685800" y="3977640"/>
            <a:ext cx="1737360" cy="146304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2,323 rows, 21 columns, Central region</a:t>
            </a:r>
            <a:endParaRPr lang="en-US" sz="1400" dirty="0"/>
          </a:p>
        </p:txBody>
      </p:sp>
      <p:sp>
        <p:nvSpPr>
          <p:cNvPr id="10" name="FlowArrow"/>
          <p:cNvSpPr/>
          <p:nvPr/>
        </p:nvSpPr>
        <p:spPr>
          <a:xfrm>
            <a:off x="2578608" y="3611880"/>
            <a:ext cx="214884" cy="274320"/>
          </a:xfrm>
          <a:prstGeom prst="rightArrow">
            <a:avLst/>
          </a:prstGeom>
          <a:solidFill>
            <a:schemeClr val="accent3"/>
          </a:solidFill>
          <a:ln/>
        </p:spPr>
        <p:txBody>
          <a:bodyPr/>
          <a:lstStyle/>
          <a:p>
            <a:endParaRPr lang="en-US"/>
          </a:p>
        </p:txBody>
      </p:sp>
      <p:sp>
        <p:nvSpPr>
          <p:cNvPr id="11" name="LayerCard"/>
          <p:cNvSpPr/>
          <p:nvPr/>
        </p:nvSpPr>
        <p:spPr>
          <a:xfrm>
            <a:off x="2811780" y="1737360"/>
            <a:ext cx="2011680" cy="3749040"/>
          </a:xfrm>
          <a:prstGeom prst="roundRect">
            <a:avLst>
              <a:gd name="adj" fmla="val 454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2" name="IconCircle"/>
          <p:cNvSpPr/>
          <p:nvPr/>
        </p:nvSpPr>
        <p:spPr>
          <a:xfrm>
            <a:off x="3451860" y="1965960"/>
            <a:ext cx="731520" cy="731520"/>
          </a:xfrm>
          <a:prstGeom prst="ellipse">
            <a:avLst/>
          </a:prstGeom>
          <a:solidFill>
            <a:schemeClr val="accent1"/>
          </a:solidFill>
          <a:ln/>
        </p:spPr>
        <p:txBody>
          <a:bodyPr/>
          <a:lstStyle/>
          <a:p>
            <a:endParaRPr lang="en-US"/>
          </a:p>
        </p:txBody>
      </p:sp>
      <p:pic>
        <p:nvPicPr>
          <p:cNvPr id="13" name="Image 1" descr="icon"/>
          <p:cNvPicPr>
            <a:picLocks noChangeAspect="1"/>
          </p:cNvPicPr>
          <p:nvPr/>
        </p:nvPicPr>
        <p:blipFill>
          <a:blip r:embed="rId4"/>
          <a:stretch>
            <a:fillRect/>
          </a:stretch>
        </p:blipFill>
        <p:spPr>
          <a:xfrm>
            <a:off x="3627425" y="2141525"/>
            <a:ext cx="380390" cy="380390"/>
          </a:xfrm>
          <a:prstGeom prst="rect">
            <a:avLst/>
          </a:prstGeom>
        </p:spPr>
      </p:pic>
      <p:sp>
        <p:nvSpPr>
          <p:cNvPr id="14" name="Text 9"/>
          <p:cNvSpPr txBox="1"/>
          <p:nvPr/>
        </p:nvSpPr>
        <p:spPr>
          <a:xfrm>
            <a:off x="2903220" y="2880360"/>
            <a:ext cx="182880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Cambria" pitchFamily="34" charset="0"/>
                <a:ea typeface="Cambria" pitchFamily="34" charset="-122"/>
                <a:cs typeface="Cambria" pitchFamily="34" charset="-120"/>
              </a:rPr>
              <a:t>Data warehouse</a:t>
            </a:r>
            <a:endParaRPr lang="en-US" sz="1700" dirty="0"/>
          </a:p>
        </p:txBody>
      </p:sp>
      <p:sp>
        <p:nvSpPr>
          <p:cNvPr id="15" name="Text 10"/>
          <p:cNvSpPr txBox="1"/>
          <p:nvPr/>
        </p:nvSpPr>
        <p:spPr>
          <a:xfrm>
            <a:off x="2903220" y="3337560"/>
            <a:ext cx="1828800" cy="548640"/>
          </a:xfrm>
          <a:prstGeom prst="rect">
            <a:avLst/>
          </a:prstGeom>
          <a:noFill/>
          <a:ln/>
        </p:spPr>
        <p:txBody>
          <a:bodyPr wrap="square" lIns="0" tIns="0" rIns="0" bIns="0" rtlCol="0" anchor="t"/>
          <a:lstStyle/>
          <a:p>
            <a:pPr marL="0" indent="0" algn="ctr">
              <a:buNone/>
            </a:pPr>
            <a:r>
              <a:rPr lang="en-US" sz="1400" b="1" dirty="0">
                <a:solidFill>
                  <a:schemeClr val="accent1"/>
                </a:solidFill>
                <a:latin typeface="Calibri" pitchFamily="34" charset="0"/>
                <a:ea typeface="Calibri" pitchFamily="34" charset="-122"/>
                <a:cs typeface="Calibri" pitchFamily="34" charset="-120"/>
              </a:rPr>
              <a:t>CentralSuperstoreDW</a:t>
            </a:r>
            <a:endParaRPr lang="en-US" sz="1400" dirty="0"/>
          </a:p>
        </p:txBody>
      </p:sp>
      <p:sp>
        <p:nvSpPr>
          <p:cNvPr id="16" name="Text 11"/>
          <p:cNvSpPr txBox="1"/>
          <p:nvPr/>
        </p:nvSpPr>
        <p:spPr>
          <a:xfrm>
            <a:off x="2948940" y="3977640"/>
            <a:ext cx="1737360" cy="146304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stg staging table, dw fact and 5 dimensions, rpt reporting schema</a:t>
            </a:r>
            <a:endParaRPr lang="en-US" sz="1400" dirty="0"/>
          </a:p>
        </p:txBody>
      </p:sp>
      <p:sp>
        <p:nvSpPr>
          <p:cNvPr id="17" name="FlowArrow"/>
          <p:cNvSpPr/>
          <p:nvPr/>
        </p:nvSpPr>
        <p:spPr>
          <a:xfrm>
            <a:off x="4841748" y="3611880"/>
            <a:ext cx="214884" cy="274320"/>
          </a:xfrm>
          <a:prstGeom prst="rightArrow">
            <a:avLst/>
          </a:prstGeom>
          <a:solidFill>
            <a:schemeClr val="accent3"/>
          </a:solidFill>
          <a:ln/>
        </p:spPr>
        <p:txBody>
          <a:bodyPr/>
          <a:lstStyle/>
          <a:p>
            <a:endParaRPr lang="en-US"/>
          </a:p>
        </p:txBody>
      </p:sp>
      <p:sp>
        <p:nvSpPr>
          <p:cNvPr id="18" name="LayerCard"/>
          <p:cNvSpPr/>
          <p:nvPr/>
        </p:nvSpPr>
        <p:spPr>
          <a:xfrm>
            <a:off x="5074920" y="1737360"/>
            <a:ext cx="2011680" cy="3749040"/>
          </a:xfrm>
          <a:prstGeom prst="roundRect">
            <a:avLst>
              <a:gd name="adj" fmla="val 454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9" name="IconCircle"/>
          <p:cNvSpPr/>
          <p:nvPr/>
        </p:nvSpPr>
        <p:spPr>
          <a:xfrm>
            <a:off x="5715000" y="1965960"/>
            <a:ext cx="731520" cy="731520"/>
          </a:xfrm>
          <a:prstGeom prst="ellipse">
            <a:avLst/>
          </a:prstGeom>
          <a:solidFill>
            <a:schemeClr val="tx2"/>
          </a:solidFill>
          <a:ln/>
        </p:spPr>
        <p:txBody>
          <a:bodyPr/>
          <a:lstStyle/>
          <a:p>
            <a:endParaRPr lang="en-US"/>
          </a:p>
        </p:txBody>
      </p:sp>
      <p:pic>
        <p:nvPicPr>
          <p:cNvPr id="20" name="Image 2" descr="icon"/>
          <p:cNvPicPr>
            <a:picLocks noChangeAspect="1"/>
          </p:cNvPicPr>
          <p:nvPr/>
        </p:nvPicPr>
        <p:blipFill>
          <a:blip r:embed="rId5"/>
          <a:stretch>
            <a:fillRect/>
          </a:stretch>
        </p:blipFill>
        <p:spPr>
          <a:xfrm>
            <a:off x="5890565" y="2141525"/>
            <a:ext cx="380390" cy="380390"/>
          </a:xfrm>
          <a:prstGeom prst="rect">
            <a:avLst/>
          </a:prstGeom>
        </p:spPr>
      </p:pic>
      <p:sp>
        <p:nvSpPr>
          <p:cNvPr id="21" name="Text 15"/>
          <p:cNvSpPr txBox="1"/>
          <p:nvPr/>
        </p:nvSpPr>
        <p:spPr>
          <a:xfrm>
            <a:off x="5166360" y="2880360"/>
            <a:ext cx="182880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Cambria" pitchFamily="34" charset="0"/>
                <a:ea typeface="Cambria" pitchFamily="34" charset="-122"/>
                <a:cs typeface="Cambria" pitchFamily="34" charset="-120"/>
              </a:rPr>
              <a:t>Validation layer</a:t>
            </a:r>
            <a:endParaRPr lang="en-US" sz="1700" dirty="0"/>
          </a:p>
        </p:txBody>
      </p:sp>
      <p:sp>
        <p:nvSpPr>
          <p:cNvPr id="22" name="Text 16"/>
          <p:cNvSpPr txBox="1"/>
          <p:nvPr/>
        </p:nvSpPr>
        <p:spPr>
          <a:xfrm>
            <a:off x="5166360" y="3337560"/>
            <a:ext cx="1828800" cy="548640"/>
          </a:xfrm>
          <a:prstGeom prst="rect">
            <a:avLst/>
          </a:prstGeom>
          <a:noFill/>
          <a:ln/>
        </p:spPr>
        <p:txBody>
          <a:bodyPr wrap="square" lIns="0" tIns="0" rIns="0" bIns="0" rtlCol="0" anchor="t"/>
          <a:lstStyle/>
          <a:p>
            <a:pPr marL="0" indent="0" algn="ctr">
              <a:buNone/>
            </a:pPr>
            <a:r>
              <a:rPr lang="en-US" sz="1400" b="1" dirty="0">
                <a:solidFill>
                  <a:schemeClr val="accent1"/>
                </a:solidFill>
                <a:latin typeface="Calibri" pitchFamily="34" charset="0"/>
                <a:ea typeface="Calibri" pitchFamily="34" charset="-122"/>
                <a:cs typeface="Calibri" pitchFamily="34" charset="-120"/>
              </a:rPr>
              <a:t>SQL checks</a:t>
            </a:r>
            <a:endParaRPr lang="en-US" sz="1400" dirty="0"/>
          </a:p>
        </p:txBody>
      </p:sp>
      <p:sp>
        <p:nvSpPr>
          <p:cNvPr id="23" name="Text 17"/>
          <p:cNvSpPr txBox="1"/>
          <p:nvPr/>
        </p:nvSpPr>
        <p:spPr>
          <a:xfrm>
            <a:off x="5212080" y="3977640"/>
            <a:ext cx="1737360" cy="146304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20 analytics queries, rpt.vw_ExecutiveKPIs, usp_GetSalesKPIsByDateRange</a:t>
            </a:r>
            <a:endParaRPr lang="en-US" sz="1400" dirty="0"/>
          </a:p>
        </p:txBody>
      </p:sp>
      <p:sp>
        <p:nvSpPr>
          <p:cNvPr id="24" name="FlowArrow"/>
          <p:cNvSpPr/>
          <p:nvPr/>
        </p:nvSpPr>
        <p:spPr>
          <a:xfrm>
            <a:off x="7104888" y="3611880"/>
            <a:ext cx="214884" cy="274320"/>
          </a:xfrm>
          <a:prstGeom prst="rightArrow">
            <a:avLst/>
          </a:prstGeom>
          <a:solidFill>
            <a:schemeClr val="accent3"/>
          </a:solidFill>
          <a:ln/>
        </p:spPr>
        <p:txBody>
          <a:bodyPr/>
          <a:lstStyle/>
          <a:p>
            <a:endParaRPr lang="en-US"/>
          </a:p>
        </p:txBody>
      </p:sp>
      <p:sp>
        <p:nvSpPr>
          <p:cNvPr id="25" name="LayerCard"/>
          <p:cNvSpPr/>
          <p:nvPr/>
        </p:nvSpPr>
        <p:spPr>
          <a:xfrm>
            <a:off x="7338060" y="1737360"/>
            <a:ext cx="2011680" cy="3749040"/>
          </a:xfrm>
          <a:prstGeom prst="roundRect">
            <a:avLst>
              <a:gd name="adj" fmla="val 454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6" name="IconCircle"/>
          <p:cNvSpPr/>
          <p:nvPr/>
        </p:nvSpPr>
        <p:spPr>
          <a:xfrm>
            <a:off x="7978140" y="1965960"/>
            <a:ext cx="731520" cy="731520"/>
          </a:xfrm>
          <a:prstGeom prst="ellipse">
            <a:avLst/>
          </a:prstGeom>
          <a:solidFill>
            <a:schemeClr val="accent1"/>
          </a:solidFill>
          <a:ln/>
        </p:spPr>
        <p:txBody>
          <a:bodyPr/>
          <a:lstStyle/>
          <a:p>
            <a:endParaRPr lang="en-US"/>
          </a:p>
        </p:txBody>
      </p:sp>
      <p:pic>
        <p:nvPicPr>
          <p:cNvPr id="27" name="Image 3" descr="icon"/>
          <p:cNvPicPr>
            <a:picLocks noChangeAspect="1"/>
          </p:cNvPicPr>
          <p:nvPr/>
        </p:nvPicPr>
        <p:blipFill>
          <a:blip r:embed="rId6"/>
          <a:stretch>
            <a:fillRect/>
          </a:stretch>
        </p:blipFill>
        <p:spPr>
          <a:xfrm>
            <a:off x="8153705" y="2141525"/>
            <a:ext cx="380390" cy="380390"/>
          </a:xfrm>
          <a:prstGeom prst="rect">
            <a:avLst/>
          </a:prstGeom>
        </p:spPr>
      </p:pic>
      <p:sp>
        <p:nvSpPr>
          <p:cNvPr id="28" name="Text 21"/>
          <p:cNvSpPr txBox="1"/>
          <p:nvPr/>
        </p:nvSpPr>
        <p:spPr>
          <a:xfrm>
            <a:off x="7429500" y="2880360"/>
            <a:ext cx="182880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Cambria" pitchFamily="34" charset="0"/>
                <a:ea typeface="Cambria" pitchFamily="34" charset="-122"/>
                <a:cs typeface="Cambria" pitchFamily="34" charset="-120"/>
              </a:rPr>
              <a:t>Tableau layer</a:t>
            </a:r>
            <a:endParaRPr lang="en-US" sz="1700" dirty="0"/>
          </a:p>
        </p:txBody>
      </p:sp>
      <p:sp>
        <p:nvSpPr>
          <p:cNvPr id="29" name="Text 22"/>
          <p:cNvSpPr txBox="1"/>
          <p:nvPr/>
        </p:nvSpPr>
        <p:spPr>
          <a:xfrm>
            <a:off x="7429500" y="3337560"/>
            <a:ext cx="1828800" cy="548640"/>
          </a:xfrm>
          <a:prstGeom prst="rect">
            <a:avLst/>
          </a:prstGeom>
          <a:noFill/>
          <a:ln/>
        </p:spPr>
        <p:txBody>
          <a:bodyPr wrap="square" lIns="0" tIns="0" rIns="0" bIns="0" rtlCol="0" anchor="t"/>
          <a:lstStyle/>
          <a:p>
            <a:pPr marL="0" indent="0" algn="ctr">
              <a:buNone/>
            </a:pPr>
            <a:r>
              <a:rPr lang="en-US" sz="1400" b="1" dirty="0">
                <a:solidFill>
                  <a:schemeClr val="accent1"/>
                </a:solidFill>
                <a:latin typeface="Calibri" pitchFamily="34" charset="0"/>
                <a:ea typeface="Calibri" pitchFamily="34" charset="-122"/>
                <a:cs typeface="Calibri" pitchFamily="34" charset="-120"/>
              </a:rPr>
              <a:t>Live connection</a:t>
            </a:r>
            <a:endParaRPr lang="en-US" sz="1400" dirty="0"/>
          </a:p>
        </p:txBody>
      </p:sp>
      <p:sp>
        <p:nvSpPr>
          <p:cNvPr id="30" name="Text 23"/>
          <p:cNvSpPr txBox="1"/>
          <p:nvPr/>
        </p:nvSpPr>
        <p:spPr>
          <a:xfrm>
            <a:off x="7475220" y="3977640"/>
            <a:ext cx="1737360" cy="146304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localhost\SQLEXPRESS, relationships between fact and dimensions</a:t>
            </a:r>
            <a:endParaRPr lang="en-US" sz="1400" dirty="0"/>
          </a:p>
        </p:txBody>
      </p:sp>
      <p:sp>
        <p:nvSpPr>
          <p:cNvPr id="31" name="FlowArrow"/>
          <p:cNvSpPr/>
          <p:nvPr/>
        </p:nvSpPr>
        <p:spPr>
          <a:xfrm>
            <a:off x="9368028" y="3611880"/>
            <a:ext cx="214884" cy="274320"/>
          </a:xfrm>
          <a:prstGeom prst="rightArrow">
            <a:avLst/>
          </a:prstGeom>
          <a:solidFill>
            <a:schemeClr val="accent3"/>
          </a:solidFill>
          <a:ln/>
        </p:spPr>
        <p:txBody>
          <a:bodyPr/>
          <a:lstStyle/>
          <a:p>
            <a:endParaRPr lang="en-US"/>
          </a:p>
        </p:txBody>
      </p:sp>
      <p:sp>
        <p:nvSpPr>
          <p:cNvPr id="32" name="LayerCard"/>
          <p:cNvSpPr/>
          <p:nvPr/>
        </p:nvSpPr>
        <p:spPr>
          <a:xfrm>
            <a:off x="9601200" y="1737360"/>
            <a:ext cx="2011680" cy="3749040"/>
          </a:xfrm>
          <a:prstGeom prst="roundRect">
            <a:avLst>
              <a:gd name="adj" fmla="val 454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3" name="IconCircle"/>
          <p:cNvSpPr/>
          <p:nvPr/>
        </p:nvSpPr>
        <p:spPr>
          <a:xfrm>
            <a:off x="10241280" y="1965960"/>
            <a:ext cx="731520" cy="731520"/>
          </a:xfrm>
          <a:prstGeom prst="ellipse">
            <a:avLst/>
          </a:prstGeom>
          <a:solidFill>
            <a:schemeClr val="tx2"/>
          </a:solidFill>
          <a:ln/>
        </p:spPr>
        <p:txBody>
          <a:bodyPr/>
          <a:lstStyle/>
          <a:p>
            <a:endParaRPr lang="en-US"/>
          </a:p>
        </p:txBody>
      </p:sp>
      <p:pic>
        <p:nvPicPr>
          <p:cNvPr id="34" name="Image 4" descr="icon"/>
          <p:cNvPicPr>
            <a:picLocks noChangeAspect="1"/>
          </p:cNvPicPr>
          <p:nvPr/>
        </p:nvPicPr>
        <p:blipFill>
          <a:blip r:embed="rId7"/>
          <a:stretch>
            <a:fillRect/>
          </a:stretch>
        </p:blipFill>
        <p:spPr>
          <a:xfrm>
            <a:off x="10416845" y="2141525"/>
            <a:ext cx="380390" cy="380390"/>
          </a:xfrm>
          <a:prstGeom prst="rect">
            <a:avLst/>
          </a:prstGeom>
        </p:spPr>
      </p:pic>
      <p:sp>
        <p:nvSpPr>
          <p:cNvPr id="35" name="Text 27"/>
          <p:cNvSpPr txBox="1"/>
          <p:nvPr/>
        </p:nvSpPr>
        <p:spPr>
          <a:xfrm>
            <a:off x="9692640" y="2880360"/>
            <a:ext cx="1828800" cy="365760"/>
          </a:xfrm>
          <a:prstGeom prst="rect">
            <a:avLst/>
          </a:prstGeom>
          <a:noFill/>
          <a:ln/>
        </p:spPr>
        <p:txBody>
          <a:bodyPr wrap="square" lIns="0" tIns="0" rIns="0" bIns="0" rtlCol="0" anchor="t"/>
          <a:lstStyle/>
          <a:p>
            <a:pPr marL="0" indent="0" algn="ctr">
              <a:buNone/>
            </a:pPr>
            <a:r>
              <a:rPr lang="en-US" sz="1700" b="1" dirty="0">
                <a:solidFill>
                  <a:schemeClr val="tx2"/>
                </a:solidFill>
                <a:latin typeface="Cambria" pitchFamily="34" charset="0"/>
                <a:ea typeface="Cambria" pitchFamily="34" charset="-122"/>
                <a:cs typeface="Cambria" pitchFamily="34" charset="-120"/>
              </a:rPr>
              <a:t>Dashboard layer</a:t>
            </a:r>
            <a:endParaRPr lang="en-US" sz="1700" dirty="0"/>
          </a:p>
        </p:txBody>
      </p:sp>
      <p:sp>
        <p:nvSpPr>
          <p:cNvPr id="36" name="Text 28"/>
          <p:cNvSpPr txBox="1"/>
          <p:nvPr/>
        </p:nvSpPr>
        <p:spPr>
          <a:xfrm>
            <a:off x="9692640" y="3337560"/>
            <a:ext cx="1828800" cy="548640"/>
          </a:xfrm>
          <a:prstGeom prst="rect">
            <a:avLst/>
          </a:prstGeom>
          <a:noFill/>
          <a:ln/>
        </p:spPr>
        <p:txBody>
          <a:bodyPr wrap="square" lIns="0" tIns="0" rIns="0" bIns="0" rtlCol="0" anchor="t"/>
          <a:lstStyle/>
          <a:p>
            <a:pPr marL="0" indent="0" algn="ctr">
              <a:buNone/>
            </a:pPr>
            <a:r>
              <a:rPr lang="en-US" sz="1400" b="1" dirty="0">
                <a:solidFill>
                  <a:schemeClr val="accent1"/>
                </a:solidFill>
                <a:latin typeface="Calibri" pitchFamily="34" charset="0"/>
                <a:ea typeface="Calibri" pitchFamily="34" charset="-122"/>
                <a:cs typeface="Calibri" pitchFamily="34" charset="-120"/>
              </a:rPr>
              <a:t>10 dashboards</a:t>
            </a:r>
            <a:endParaRPr lang="en-US" sz="1400" dirty="0"/>
          </a:p>
        </p:txBody>
      </p:sp>
      <p:sp>
        <p:nvSpPr>
          <p:cNvPr id="37" name="Text 29"/>
          <p:cNvSpPr txBox="1"/>
          <p:nvPr/>
        </p:nvSpPr>
        <p:spPr>
          <a:xfrm>
            <a:off x="9738360" y="3977640"/>
            <a:ext cx="1737360" cy="1463040"/>
          </a:xfrm>
          <a:prstGeom prst="rect">
            <a:avLst/>
          </a:prstGeom>
          <a:noFill/>
          <a:ln/>
        </p:spPr>
        <p:txBody>
          <a:bodyPr wrap="square" lIns="0" tIns="0" rIns="0" bIns="0" rtlCol="0" anchor="t"/>
          <a:lstStyle/>
          <a:p>
            <a:pPr marL="0" indent="0" algn="ctr">
              <a:buNone/>
            </a:pPr>
            <a:r>
              <a:rPr lang="en-US" sz="1400" dirty="0">
                <a:solidFill>
                  <a:schemeClr val="tx1"/>
                </a:solidFill>
                <a:latin typeface="Calibri" pitchFamily="34" charset="0"/>
                <a:ea typeface="Calibri" pitchFamily="34" charset="-122"/>
                <a:cs typeface="Calibri" pitchFamily="34" charset="-120"/>
              </a:rPr>
              <a:t>Home, Executive, Profitability, Customer, Trends, Geography, Shipping</a:t>
            </a:r>
            <a:endParaRPr lang="en-US" sz="1400" dirty="0"/>
          </a:p>
        </p:txBody>
      </p:sp>
      <p:sp>
        <p:nvSpPr>
          <p:cNvPr id="38" name="Text 30"/>
          <p:cNvSpPr txBox="1"/>
          <p:nvPr/>
        </p:nvSpPr>
        <p:spPr>
          <a:xfrm>
            <a:off x="548640" y="5760720"/>
            <a:ext cx="11064240" cy="365760"/>
          </a:xfrm>
          <a:prstGeom prst="rect">
            <a:avLst/>
          </a:prstGeom>
          <a:noFill/>
          <a:ln/>
        </p:spPr>
        <p:txBody>
          <a:bodyPr wrap="square" lIns="0" tIns="0" rIns="0" bIns="0" rtlCol="0" anchor="t"/>
          <a:lstStyle/>
          <a:p>
            <a:pPr marL="0" indent="0" algn="ctr">
              <a:buNone/>
            </a:pPr>
            <a:r>
              <a:rPr lang="en-US" sz="1400" i="1" dirty="0">
                <a:solidFill>
                  <a:srgbClr val="000000"/>
                </a:solidFill>
                <a:latin typeface="Calibri" pitchFamily="34" charset="0"/>
                <a:ea typeface="Calibri" pitchFamily="34" charset="-122"/>
                <a:cs typeface="Calibri" pitchFamily="34" charset="-120"/>
              </a:rPr>
              <a:t>One shared data source feeds every dashboard, so a filter means the same thing everywhere</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Project workflow: how the work actually moved</a:t>
            </a:r>
            <a:endParaRPr lang="en-US" sz="3000" dirty="0"/>
          </a:p>
        </p:txBody>
      </p:sp>
      <p:sp>
        <p:nvSpPr>
          <p:cNvPr id="4" name="Shape 1"/>
          <p:cNvSpPr/>
          <p:nvPr/>
        </p:nvSpPr>
        <p:spPr>
          <a:xfrm>
            <a:off x="1280160" y="3063240"/>
            <a:ext cx="9601200" cy="0"/>
          </a:xfrm>
          <a:prstGeom prst="line">
            <a:avLst/>
          </a:prstGeom>
          <a:noFill/>
          <a:ln w="25400">
            <a:solidFill>
              <a:schemeClr val="accent6"/>
            </a:solidFill>
            <a:prstDash val="dash"/>
          </a:ln>
        </p:spPr>
        <p:txBody>
          <a:bodyPr/>
          <a:lstStyle/>
          <a:p>
            <a:endParaRPr lang="en-US"/>
          </a:p>
        </p:txBody>
      </p:sp>
      <p:sp>
        <p:nvSpPr>
          <p:cNvPr id="5" name="IconCircle"/>
          <p:cNvSpPr/>
          <p:nvPr/>
        </p:nvSpPr>
        <p:spPr>
          <a:xfrm>
            <a:off x="914400" y="2606040"/>
            <a:ext cx="914400" cy="914400"/>
          </a:xfrm>
          <a:prstGeom prst="ellipse">
            <a:avLst/>
          </a:prstGeom>
          <a:solidFill>
            <a:schemeClr val="accent1"/>
          </a:solidFill>
          <a:ln/>
        </p:spPr>
        <p:txBody>
          <a:bodyPr/>
          <a:lstStyle/>
          <a:p>
            <a:endParaRPr lang="en-US"/>
          </a:p>
        </p:txBody>
      </p:sp>
      <p:pic>
        <p:nvPicPr>
          <p:cNvPr id="6" name="Image 0" descr="icon"/>
          <p:cNvPicPr>
            <a:picLocks noChangeAspect="1"/>
          </p:cNvPicPr>
          <p:nvPr/>
        </p:nvPicPr>
        <p:blipFill>
          <a:blip r:embed="rId3"/>
          <a:stretch>
            <a:fillRect/>
          </a:stretch>
        </p:blipFill>
        <p:spPr>
          <a:xfrm>
            <a:off x="1133856" y="2825496"/>
            <a:ext cx="475488" cy="475488"/>
          </a:xfrm>
          <a:prstGeom prst="rect">
            <a:avLst/>
          </a:prstGeom>
        </p:spPr>
      </p:pic>
      <p:sp>
        <p:nvSpPr>
          <p:cNvPr id="7" name="Text 3"/>
          <p:cNvSpPr txBox="1"/>
          <p:nvPr/>
        </p:nvSpPr>
        <p:spPr>
          <a:xfrm>
            <a:off x="123444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1</a:t>
            </a:r>
            <a:endParaRPr lang="en-US" sz="1600" dirty="0"/>
          </a:p>
        </p:txBody>
      </p:sp>
      <p:sp>
        <p:nvSpPr>
          <p:cNvPr id="8" name="WorkflowCard"/>
          <p:cNvSpPr/>
          <p:nvPr/>
        </p:nvSpPr>
        <p:spPr>
          <a:xfrm>
            <a:off x="54864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9" name="Text 5"/>
          <p:cNvSpPr txBox="1"/>
          <p:nvPr/>
        </p:nvSpPr>
        <p:spPr>
          <a:xfrm>
            <a:off x="64008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Raw Data</a:t>
            </a:r>
            <a:endParaRPr lang="en-US" sz="1500" dirty="0"/>
          </a:p>
        </p:txBody>
      </p:sp>
      <p:sp>
        <p:nvSpPr>
          <p:cNvPr id="10" name="Text 6"/>
          <p:cNvSpPr txBox="1"/>
          <p:nvPr/>
        </p:nvSpPr>
        <p:spPr>
          <a:xfrm>
            <a:off x="65836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CSV export of the Central sheet</a:t>
            </a:r>
            <a:endParaRPr lang="en-US" sz="1350" dirty="0"/>
          </a:p>
        </p:txBody>
      </p:sp>
      <p:sp>
        <p:nvSpPr>
          <p:cNvPr id="11" name="IconCircle"/>
          <p:cNvSpPr/>
          <p:nvPr/>
        </p:nvSpPr>
        <p:spPr>
          <a:xfrm>
            <a:off x="2788920" y="2606040"/>
            <a:ext cx="914400" cy="914400"/>
          </a:xfrm>
          <a:prstGeom prst="ellipse">
            <a:avLst/>
          </a:prstGeom>
          <a:solidFill>
            <a:schemeClr val="accent1"/>
          </a:solidFill>
          <a:ln/>
        </p:spPr>
        <p:txBody>
          <a:bodyPr/>
          <a:lstStyle/>
          <a:p>
            <a:endParaRPr lang="en-US"/>
          </a:p>
        </p:txBody>
      </p:sp>
      <p:pic>
        <p:nvPicPr>
          <p:cNvPr id="12" name="Image 1" descr="icon"/>
          <p:cNvPicPr>
            <a:picLocks noChangeAspect="1"/>
          </p:cNvPicPr>
          <p:nvPr/>
        </p:nvPicPr>
        <p:blipFill>
          <a:blip r:embed="rId4"/>
          <a:stretch>
            <a:fillRect/>
          </a:stretch>
        </p:blipFill>
        <p:spPr>
          <a:xfrm>
            <a:off x="3008376" y="2825496"/>
            <a:ext cx="475488" cy="475488"/>
          </a:xfrm>
          <a:prstGeom prst="rect">
            <a:avLst/>
          </a:prstGeom>
        </p:spPr>
      </p:pic>
      <p:sp>
        <p:nvSpPr>
          <p:cNvPr id="13" name="Text 8"/>
          <p:cNvSpPr txBox="1"/>
          <p:nvPr/>
        </p:nvSpPr>
        <p:spPr>
          <a:xfrm>
            <a:off x="310896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2</a:t>
            </a:r>
            <a:endParaRPr lang="en-US" sz="1600" dirty="0"/>
          </a:p>
        </p:txBody>
      </p:sp>
      <p:sp>
        <p:nvSpPr>
          <p:cNvPr id="14" name="WorkflowCard"/>
          <p:cNvSpPr/>
          <p:nvPr/>
        </p:nvSpPr>
        <p:spPr>
          <a:xfrm>
            <a:off x="242316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5" name="Text 10"/>
          <p:cNvSpPr txBox="1"/>
          <p:nvPr/>
        </p:nvSpPr>
        <p:spPr>
          <a:xfrm>
            <a:off x="251460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Data Warehouse</a:t>
            </a:r>
            <a:endParaRPr lang="en-US" sz="1500" dirty="0"/>
          </a:p>
        </p:txBody>
      </p:sp>
      <p:sp>
        <p:nvSpPr>
          <p:cNvPr id="16" name="Text 11"/>
          <p:cNvSpPr txBox="1"/>
          <p:nvPr/>
        </p:nvSpPr>
        <p:spPr>
          <a:xfrm>
            <a:off x="253288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Star schema in SQL Server</a:t>
            </a:r>
            <a:endParaRPr lang="en-US" sz="1350" dirty="0"/>
          </a:p>
        </p:txBody>
      </p:sp>
      <p:sp>
        <p:nvSpPr>
          <p:cNvPr id="17" name="IconCircle"/>
          <p:cNvSpPr/>
          <p:nvPr/>
        </p:nvSpPr>
        <p:spPr>
          <a:xfrm>
            <a:off x="4663440" y="2606040"/>
            <a:ext cx="914400" cy="914400"/>
          </a:xfrm>
          <a:prstGeom prst="ellipse">
            <a:avLst/>
          </a:prstGeom>
          <a:solidFill>
            <a:schemeClr val="accent1"/>
          </a:solidFill>
          <a:ln/>
        </p:spPr>
        <p:txBody>
          <a:bodyPr/>
          <a:lstStyle/>
          <a:p>
            <a:endParaRPr lang="en-US"/>
          </a:p>
        </p:txBody>
      </p:sp>
      <p:pic>
        <p:nvPicPr>
          <p:cNvPr id="18" name="Image 2" descr="icon"/>
          <p:cNvPicPr>
            <a:picLocks noChangeAspect="1"/>
          </p:cNvPicPr>
          <p:nvPr/>
        </p:nvPicPr>
        <p:blipFill>
          <a:blip r:embed="rId5"/>
          <a:stretch>
            <a:fillRect/>
          </a:stretch>
        </p:blipFill>
        <p:spPr>
          <a:xfrm>
            <a:off x="4882896" y="2825496"/>
            <a:ext cx="475488" cy="475488"/>
          </a:xfrm>
          <a:prstGeom prst="rect">
            <a:avLst/>
          </a:prstGeom>
        </p:spPr>
      </p:pic>
      <p:sp>
        <p:nvSpPr>
          <p:cNvPr id="19" name="Text 13"/>
          <p:cNvSpPr txBox="1"/>
          <p:nvPr/>
        </p:nvSpPr>
        <p:spPr>
          <a:xfrm>
            <a:off x="498348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3</a:t>
            </a:r>
            <a:endParaRPr lang="en-US" sz="1600" dirty="0"/>
          </a:p>
        </p:txBody>
      </p:sp>
      <p:sp>
        <p:nvSpPr>
          <p:cNvPr id="20" name="WorkflowCard"/>
          <p:cNvSpPr/>
          <p:nvPr/>
        </p:nvSpPr>
        <p:spPr>
          <a:xfrm>
            <a:off x="429768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1" name="Text 15"/>
          <p:cNvSpPr txBox="1"/>
          <p:nvPr/>
        </p:nvSpPr>
        <p:spPr>
          <a:xfrm>
            <a:off x="438912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SQL Validation</a:t>
            </a:r>
            <a:endParaRPr lang="en-US" sz="1500" dirty="0"/>
          </a:p>
        </p:txBody>
      </p:sp>
      <p:sp>
        <p:nvSpPr>
          <p:cNvPr id="22" name="Text 16"/>
          <p:cNvSpPr txBox="1"/>
          <p:nvPr/>
        </p:nvSpPr>
        <p:spPr>
          <a:xfrm>
            <a:off x="440740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20 queries, view and procedure</a:t>
            </a:r>
            <a:endParaRPr lang="en-US" sz="1350" dirty="0"/>
          </a:p>
        </p:txBody>
      </p:sp>
      <p:sp>
        <p:nvSpPr>
          <p:cNvPr id="23" name="IconCircle"/>
          <p:cNvSpPr/>
          <p:nvPr/>
        </p:nvSpPr>
        <p:spPr>
          <a:xfrm>
            <a:off x="6537960" y="2606040"/>
            <a:ext cx="914400" cy="914400"/>
          </a:xfrm>
          <a:prstGeom prst="ellipse">
            <a:avLst/>
          </a:prstGeom>
          <a:solidFill>
            <a:schemeClr val="accent1"/>
          </a:solidFill>
          <a:ln/>
        </p:spPr>
        <p:txBody>
          <a:bodyPr/>
          <a:lstStyle/>
          <a:p>
            <a:endParaRPr lang="en-US"/>
          </a:p>
        </p:txBody>
      </p:sp>
      <p:pic>
        <p:nvPicPr>
          <p:cNvPr id="24" name="Image 3" descr="icon"/>
          <p:cNvPicPr>
            <a:picLocks noChangeAspect="1"/>
          </p:cNvPicPr>
          <p:nvPr/>
        </p:nvPicPr>
        <p:blipFill>
          <a:blip r:embed="rId6"/>
          <a:stretch>
            <a:fillRect/>
          </a:stretch>
        </p:blipFill>
        <p:spPr>
          <a:xfrm>
            <a:off x="6757416" y="2825496"/>
            <a:ext cx="475488" cy="475488"/>
          </a:xfrm>
          <a:prstGeom prst="rect">
            <a:avLst/>
          </a:prstGeom>
        </p:spPr>
      </p:pic>
      <p:sp>
        <p:nvSpPr>
          <p:cNvPr id="25" name="Text 18"/>
          <p:cNvSpPr txBox="1"/>
          <p:nvPr/>
        </p:nvSpPr>
        <p:spPr>
          <a:xfrm>
            <a:off x="685800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4</a:t>
            </a:r>
            <a:endParaRPr lang="en-US" sz="1600" dirty="0"/>
          </a:p>
        </p:txBody>
      </p:sp>
      <p:sp>
        <p:nvSpPr>
          <p:cNvPr id="26" name="WorkflowCard"/>
          <p:cNvSpPr/>
          <p:nvPr/>
        </p:nvSpPr>
        <p:spPr>
          <a:xfrm>
            <a:off x="617220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7" name="Text 20"/>
          <p:cNvSpPr txBox="1"/>
          <p:nvPr/>
        </p:nvSpPr>
        <p:spPr>
          <a:xfrm>
            <a:off x="626364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Tableau Development</a:t>
            </a:r>
            <a:endParaRPr lang="en-US" sz="1500" dirty="0"/>
          </a:p>
        </p:txBody>
      </p:sp>
      <p:sp>
        <p:nvSpPr>
          <p:cNvPr id="28" name="Text 21"/>
          <p:cNvSpPr txBox="1"/>
          <p:nvPr/>
        </p:nvSpPr>
        <p:spPr>
          <a:xfrm>
            <a:off x="628192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One workbook per owner, one branch each</a:t>
            </a:r>
            <a:endParaRPr lang="en-US" sz="1350" dirty="0"/>
          </a:p>
        </p:txBody>
      </p:sp>
      <p:sp>
        <p:nvSpPr>
          <p:cNvPr id="29" name="IconCircle"/>
          <p:cNvSpPr/>
          <p:nvPr/>
        </p:nvSpPr>
        <p:spPr>
          <a:xfrm>
            <a:off x="8412480" y="2606040"/>
            <a:ext cx="914400" cy="914400"/>
          </a:xfrm>
          <a:prstGeom prst="ellipse">
            <a:avLst/>
          </a:prstGeom>
          <a:solidFill>
            <a:schemeClr val="accent1"/>
          </a:solidFill>
          <a:ln/>
        </p:spPr>
        <p:txBody>
          <a:bodyPr/>
          <a:lstStyle/>
          <a:p>
            <a:endParaRPr lang="en-US"/>
          </a:p>
        </p:txBody>
      </p:sp>
      <p:pic>
        <p:nvPicPr>
          <p:cNvPr id="30" name="Image 4" descr="icon"/>
          <p:cNvPicPr>
            <a:picLocks noChangeAspect="1"/>
          </p:cNvPicPr>
          <p:nvPr/>
        </p:nvPicPr>
        <p:blipFill>
          <a:blip r:embed="rId7"/>
          <a:stretch>
            <a:fillRect/>
          </a:stretch>
        </p:blipFill>
        <p:spPr>
          <a:xfrm>
            <a:off x="8631936" y="2825496"/>
            <a:ext cx="475488" cy="475488"/>
          </a:xfrm>
          <a:prstGeom prst="rect">
            <a:avLst/>
          </a:prstGeom>
        </p:spPr>
      </p:pic>
      <p:sp>
        <p:nvSpPr>
          <p:cNvPr id="31" name="Text 23"/>
          <p:cNvSpPr txBox="1"/>
          <p:nvPr/>
        </p:nvSpPr>
        <p:spPr>
          <a:xfrm>
            <a:off x="873252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5</a:t>
            </a:r>
            <a:endParaRPr lang="en-US" sz="1600" dirty="0"/>
          </a:p>
        </p:txBody>
      </p:sp>
      <p:sp>
        <p:nvSpPr>
          <p:cNvPr id="32" name="WorkflowCard"/>
          <p:cNvSpPr/>
          <p:nvPr/>
        </p:nvSpPr>
        <p:spPr>
          <a:xfrm>
            <a:off x="804672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3" name="Text 25"/>
          <p:cNvSpPr txBox="1"/>
          <p:nvPr/>
        </p:nvSpPr>
        <p:spPr>
          <a:xfrm>
            <a:off x="813816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Dashboard Design</a:t>
            </a:r>
            <a:endParaRPr lang="en-US" sz="1500" dirty="0"/>
          </a:p>
        </p:txBody>
      </p:sp>
      <p:sp>
        <p:nvSpPr>
          <p:cNvPr id="34" name="Text 26"/>
          <p:cNvSpPr txBox="1"/>
          <p:nvPr/>
        </p:nvSpPr>
        <p:spPr>
          <a:xfrm>
            <a:off x="815644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Merged into 10 dashboards, 1400 x 900</a:t>
            </a:r>
            <a:endParaRPr lang="en-US" sz="1350" dirty="0"/>
          </a:p>
        </p:txBody>
      </p:sp>
      <p:sp>
        <p:nvSpPr>
          <p:cNvPr id="35" name="IconCircle"/>
          <p:cNvSpPr/>
          <p:nvPr/>
        </p:nvSpPr>
        <p:spPr>
          <a:xfrm>
            <a:off x="10287000" y="2606040"/>
            <a:ext cx="914400" cy="914400"/>
          </a:xfrm>
          <a:prstGeom prst="ellipse">
            <a:avLst/>
          </a:prstGeom>
          <a:solidFill>
            <a:schemeClr val="accent2"/>
          </a:solidFill>
          <a:ln/>
        </p:spPr>
        <p:txBody>
          <a:bodyPr/>
          <a:lstStyle/>
          <a:p>
            <a:endParaRPr lang="en-US"/>
          </a:p>
        </p:txBody>
      </p:sp>
      <p:pic>
        <p:nvPicPr>
          <p:cNvPr id="36" name="Image 5" descr="icon"/>
          <p:cNvPicPr>
            <a:picLocks noChangeAspect="1"/>
          </p:cNvPicPr>
          <p:nvPr/>
        </p:nvPicPr>
        <p:blipFill>
          <a:blip r:embed="rId8"/>
          <a:stretch>
            <a:fillRect/>
          </a:stretch>
        </p:blipFill>
        <p:spPr>
          <a:xfrm>
            <a:off x="10506456" y="2825496"/>
            <a:ext cx="475488" cy="475488"/>
          </a:xfrm>
          <a:prstGeom prst="rect">
            <a:avLst/>
          </a:prstGeom>
        </p:spPr>
      </p:pic>
      <p:sp>
        <p:nvSpPr>
          <p:cNvPr id="37" name="Text 28"/>
          <p:cNvSpPr txBox="1"/>
          <p:nvPr/>
        </p:nvSpPr>
        <p:spPr>
          <a:xfrm>
            <a:off x="10607040" y="2103120"/>
            <a:ext cx="274320" cy="365760"/>
          </a:xfrm>
          <a:prstGeom prst="rect">
            <a:avLst/>
          </a:prstGeom>
          <a:noFill/>
          <a:ln/>
        </p:spPr>
        <p:txBody>
          <a:bodyPr wrap="square" lIns="0" tIns="0" rIns="0" bIns="0" rtlCol="0" anchor="t"/>
          <a:lstStyle/>
          <a:p>
            <a:pPr marL="0" indent="0" algn="ctr">
              <a:buNone/>
            </a:pPr>
            <a:r>
              <a:rPr lang="en-US" sz="1600" b="1" dirty="0">
                <a:solidFill>
                  <a:schemeClr val="accent3"/>
                </a:solidFill>
                <a:latin typeface="Calibri" pitchFamily="34" charset="0"/>
                <a:ea typeface="Calibri" pitchFamily="34" charset="-122"/>
                <a:cs typeface="Calibri" pitchFamily="34" charset="-120"/>
              </a:rPr>
              <a:t>6</a:t>
            </a:r>
            <a:endParaRPr lang="en-US" sz="1600" dirty="0"/>
          </a:p>
        </p:txBody>
      </p:sp>
      <p:sp>
        <p:nvSpPr>
          <p:cNvPr id="38" name="WorkflowCard"/>
          <p:cNvSpPr/>
          <p:nvPr/>
        </p:nvSpPr>
        <p:spPr>
          <a:xfrm>
            <a:off x="9921240" y="3840480"/>
            <a:ext cx="1691640" cy="1828800"/>
          </a:xfrm>
          <a:prstGeom prst="roundRect">
            <a:avLst>
              <a:gd name="adj" fmla="val 54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9" name="Text 30"/>
          <p:cNvSpPr txBox="1"/>
          <p:nvPr/>
        </p:nvSpPr>
        <p:spPr>
          <a:xfrm>
            <a:off x="10012680" y="3977640"/>
            <a:ext cx="1508760" cy="640080"/>
          </a:xfrm>
          <a:prstGeom prst="rect">
            <a:avLst/>
          </a:prstGeom>
          <a:noFill/>
          <a:ln/>
        </p:spPr>
        <p:txBody>
          <a:bodyPr wrap="square" lIns="0" tIns="0" rIns="0" bIns="0" rtlCol="0" anchor="ctr"/>
          <a:lstStyle/>
          <a:p>
            <a:pPr marL="0" indent="0" algn="ctr">
              <a:buNone/>
            </a:pPr>
            <a:r>
              <a:rPr lang="en-US" sz="1500" b="1" dirty="0">
                <a:solidFill>
                  <a:schemeClr val="tx2"/>
                </a:solidFill>
                <a:latin typeface="Cambria" pitchFamily="34" charset="0"/>
                <a:ea typeface="Cambria" pitchFamily="34" charset="-122"/>
                <a:cs typeface="Cambria" pitchFamily="34" charset="-120"/>
              </a:rPr>
              <a:t>Business Insights</a:t>
            </a:r>
            <a:endParaRPr lang="en-US" sz="1500" dirty="0"/>
          </a:p>
        </p:txBody>
      </p:sp>
      <p:sp>
        <p:nvSpPr>
          <p:cNvPr id="40" name="Text 31"/>
          <p:cNvSpPr txBox="1"/>
          <p:nvPr/>
        </p:nvSpPr>
        <p:spPr>
          <a:xfrm>
            <a:off x="10030968" y="4663440"/>
            <a:ext cx="1472184" cy="1005840"/>
          </a:xfrm>
          <a:prstGeom prst="rect">
            <a:avLst/>
          </a:prstGeom>
          <a:noFill/>
          <a:ln/>
        </p:spPr>
        <p:txBody>
          <a:bodyPr wrap="square" lIns="0" tIns="0" rIns="0" bIns="0" rtlCol="0" anchor="t"/>
          <a:lstStyle/>
          <a:p>
            <a:pPr marL="0" indent="0" algn="ctr">
              <a:buNone/>
            </a:pPr>
            <a:r>
              <a:rPr lang="en-US" sz="1350" dirty="0">
                <a:solidFill>
                  <a:schemeClr val="tx1"/>
                </a:solidFill>
                <a:latin typeface="Calibri" pitchFamily="34" charset="0"/>
                <a:ea typeface="Calibri" pitchFamily="34" charset="-122"/>
                <a:cs typeface="Calibri" pitchFamily="34" charset="-120"/>
              </a:rPr>
              <a:t>Findings and recommendations</a:t>
            </a:r>
            <a:endParaRPr lang="en-US" sz="135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The SQL validation journey: trusting the numbers first</a:t>
            </a:r>
            <a:endParaRPr lang="en-US" sz="3000" dirty="0"/>
          </a:p>
        </p:txBody>
      </p:sp>
      <p:sp>
        <p:nvSpPr>
          <p:cNvPr id="4" name="BaselineCard"/>
          <p:cNvSpPr/>
          <p:nvPr/>
        </p:nvSpPr>
        <p:spPr>
          <a:xfrm>
            <a:off x="548640" y="1371600"/>
            <a:ext cx="3931920" cy="4800600"/>
          </a:xfrm>
          <a:prstGeom prst="roundRect">
            <a:avLst>
              <a:gd name="adj" fmla="val 2326"/>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Text 2"/>
          <p:cNvSpPr txBox="1"/>
          <p:nvPr/>
        </p:nvSpPr>
        <p:spPr>
          <a:xfrm>
            <a:off x="777240" y="1508760"/>
            <a:ext cx="34747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Baseline KPIs (unfiltered)</a:t>
            </a:r>
            <a:endParaRPr lang="en-US" sz="1700" dirty="0"/>
          </a:p>
        </p:txBody>
      </p:sp>
      <p:sp>
        <p:nvSpPr>
          <p:cNvPr id="6" name="Text 3"/>
          <p:cNvSpPr txBox="1"/>
          <p:nvPr/>
        </p:nvSpPr>
        <p:spPr>
          <a:xfrm>
            <a:off x="777240" y="2057400"/>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Total Sales</a:t>
            </a:r>
            <a:endParaRPr lang="en-US" sz="1400" dirty="0"/>
          </a:p>
        </p:txBody>
      </p:sp>
      <p:sp>
        <p:nvSpPr>
          <p:cNvPr id="7" name="Text 4"/>
          <p:cNvSpPr txBox="1"/>
          <p:nvPr/>
        </p:nvSpPr>
        <p:spPr>
          <a:xfrm>
            <a:off x="2468880" y="2057400"/>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$501,239.89</a:t>
            </a:r>
            <a:endParaRPr lang="en-US" sz="1600" dirty="0"/>
          </a:p>
        </p:txBody>
      </p:sp>
      <p:sp>
        <p:nvSpPr>
          <p:cNvPr id="8" name="Text 5"/>
          <p:cNvSpPr txBox="1"/>
          <p:nvPr/>
        </p:nvSpPr>
        <p:spPr>
          <a:xfrm>
            <a:off x="777240" y="2624328"/>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Total Profit</a:t>
            </a:r>
            <a:endParaRPr lang="en-US" sz="1400" dirty="0"/>
          </a:p>
        </p:txBody>
      </p:sp>
      <p:sp>
        <p:nvSpPr>
          <p:cNvPr id="9" name="Text 6"/>
          <p:cNvSpPr txBox="1"/>
          <p:nvPr/>
        </p:nvSpPr>
        <p:spPr>
          <a:xfrm>
            <a:off x="2468880" y="2624328"/>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$39,706.36</a:t>
            </a:r>
            <a:endParaRPr lang="en-US" sz="1600" dirty="0"/>
          </a:p>
        </p:txBody>
      </p:sp>
      <p:sp>
        <p:nvSpPr>
          <p:cNvPr id="10" name="Text 7"/>
          <p:cNvSpPr txBox="1"/>
          <p:nvPr/>
        </p:nvSpPr>
        <p:spPr>
          <a:xfrm>
            <a:off x="777240" y="3191256"/>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Profit Margin</a:t>
            </a:r>
            <a:endParaRPr lang="en-US" sz="1400" dirty="0"/>
          </a:p>
        </p:txBody>
      </p:sp>
      <p:sp>
        <p:nvSpPr>
          <p:cNvPr id="11" name="Text 8"/>
          <p:cNvSpPr txBox="1"/>
          <p:nvPr/>
        </p:nvSpPr>
        <p:spPr>
          <a:xfrm>
            <a:off x="2468880" y="3191256"/>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7.92%</a:t>
            </a:r>
            <a:endParaRPr lang="en-US" sz="1600" dirty="0"/>
          </a:p>
        </p:txBody>
      </p:sp>
      <p:sp>
        <p:nvSpPr>
          <p:cNvPr id="12" name="Text 9"/>
          <p:cNvSpPr txBox="1"/>
          <p:nvPr/>
        </p:nvSpPr>
        <p:spPr>
          <a:xfrm>
            <a:off x="777240" y="3758184"/>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Total Orders</a:t>
            </a:r>
            <a:endParaRPr lang="en-US" sz="1400" dirty="0"/>
          </a:p>
        </p:txBody>
      </p:sp>
      <p:sp>
        <p:nvSpPr>
          <p:cNvPr id="13" name="Text 10"/>
          <p:cNvSpPr txBox="1"/>
          <p:nvPr/>
        </p:nvSpPr>
        <p:spPr>
          <a:xfrm>
            <a:off x="2468880" y="3758184"/>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1,175</a:t>
            </a:r>
            <a:endParaRPr lang="en-US" sz="1600" dirty="0"/>
          </a:p>
        </p:txBody>
      </p:sp>
      <p:sp>
        <p:nvSpPr>
          <p:cNvPr id="14" name="Text 11"/>
          <p:cNvSpPr txBox="1"/>
          <p:nvPr/>
        </p:nvSpPr>
        <p:spPr>
          <a:xfrm>
            <a:off x="777240" y="4325112"/>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Total Customers</a:t>
            </a:r>
            <a:endParaRPr lang="en-US" sz="1400" dirty="0"/>
          </a:p>
        </p:txBody>
      </p:sp>
      <p:sp>
        <p:nvSpPr>
          <p:cNvPr id="15" name="Text 12"/>
          <p:cNvSpPr txBox="1"/>
          <p:nvPr/>
        </p:nvSpPr>
        <p:spPr>
          <a:xfrm>
            <a:off x="2468880" y="4325112"/>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629</a:t>
            </a:r>
            <a:endParaRPr lang="en-US" sz="1600" dirty="0"/>
          </a:p>
        </p:txBody>
      </p:sp>
      <p:sp>
        <p:nvSpPr>
          <p:cNvPr id="16" name="Text 13"/>
          <p:cNvSpPr txBox="1"/>
          <p:nvPr/>
        </p:nvSpPr>
        <p:spPr>
          <a:xfrm>
            <a:off x="777240" y="4892040"/>
            <a:ext cx="1828800" cy="41148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Avg Order Value</a:t>
            </a:r>
            <a:endParaRPr lang="en-US" sz="1400" dirty="0"/>
          </a:p>
        </p:txBody>
      </p:sp>
      <p:sp>
        <p:nvSpPr>
          <p:cNvPr id="17" name="Text 14"/>
          <p:cNvSpPr txBox="1"/>
          <p:nvPr/>
        </p:nvSpPr>
        <p:spPr>
          <a:xfrm>
            <a:off x="2468880" y="4892040"/>
            <a:ext cx="1828800" cy="41148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$426.59</a:t>
            </a:r>
            <a:endParaRPr lang="en-US" sz="1600" dirty="0"/>
          </a:p>
        </p:txBody>
      </p:sp>
      <p:sp>
        <p:nvSpPr>
          <p:cNvPr id="18" name="Text 15"/>
          <p:cNvSpPr txBox="1"/>
          <p:nvPr/>
        </p:nvSpPr>
        <p:spPr>
          <a:xfrm>
            <a:off x="777240" y="5486400"/>
            <a:ext cx="3474720" cy="502920"/>
          </a:xfrm>
          <a:prstGeom prst="rect">
            <a:avLst/>
          </a:prstGeom>
          <a:noFill/>
          <a:ln/>
        </p:spPr>
        <p:txBody>
          <a:bodyPr wrap="square" lIns="0" tIns="0" rIns="0" bIns="0" rtlCol="0" anchor="t"/>
          <a:lstStyle/>
          <a:p>
            <a:pPr marL="0" indent="0">
              <a:buNone/>
            </a:pPr>
            <a:r>
              <a:rPr lang="en-US" sz="1200" i="1" dirty="0">
                <a:solidFill>
                  <a:srgbClr val="000000"/>
                </a:solidFill>
                <a:latin typeface="Calibri" pitchFamily="34" charset="0"/>
                <a:ea typeface="Calibri" pitchFamily="34" charset="-122"/>
                <a:cs typeface="Calibri" pitchFamily="34" charset="-120"/>
              </a:rPr>
              <a:t>Confirmed against SQL Server and the source CSV</a:t>
            </a:r>
            <a:endParaRPr lang="en-US" sz="1200" dirty="0"/>
          </a:p>
        </p:txBody>
      </p:sp>
      <p:sp>
        <p:nvSpPr>
          <p:cNvPr id="19" name="HowCard"/>
          <p:cNvSpPr/>
          <p:nvPr/>
        </p:nvSpPr>
        <p:spPr>
          <a:xfrm>
            <a:off x="4663440" y="1371600"/>
            <a:ext cx="3200400" cy="4800600"/>
          </a:xfrm>
          <a:prstGeom prst="roundRect">
            <a:avLst>
              <a:gd name="adj" fmla="val 285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Text 17"/>
          <p:cNvSpPr txBox="1"/>
          <p:nvPr/>
        </p:nvSpPr>
        <p:spPr>
          <a:xfrm>
            <a:off x="4892040" y="1508760"/>
            <a:ext cx="274320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How we checked</a:t>
            </a:r>
            <a:endParaRPr lang="en-US" sz="1700" dirty="0"/>
          </a:p>
        </p:txBody>
      </p:sp>
      <p:sp>
        <p:nvSpPr>
          <p:cNvPr id="21" name="Text 18"/>
          <p:cNvSpPr txBox="1"/>
          <p:nvPr/>
        </p:nvSpPr>
        <p:spPr>
          <a:xfrm>
            <a:off x="4892040" y="2057400"/>
            <a:ext cx="274320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Matched each Tableau formula to a SQL query (Q1 to Q20)</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Checked the relationships use order date and surrogate keys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Counted orders and customers with COUNT DISTINCT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Matched tier and repeat-customer rules to Q7 and Q8</a:t>
            </a:r>
            <a:endParaRPr lang="en-US" sz="1400" dirty="0"/>
          </a:p>
        </p:txBody>
      </p:sp>
      <p:sp>
        <p:nvSpPr>
          <p:cNvPr id="22" name="FoundCard"/>
          <p:cNvSpPr/>
          <p:nvPr/>
        </p:nvSpPr>
        <p:spPr>
          <a:xfrm>
            <a:off x="8046720" y="1371600"/>
            <a:ext cx="3566160" cy="4800600"/>
          </a:xfrm>
          <a:prstGeom prst="roundRect">
            <a:avLst>
              <a:gd name="adj" fmla="val 2564"/>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3" name="Text 20"/>
          <p:cNvSpPr txBox="1"/>
          <p:nvPr/>
        </p:nvSpPr>
        <p:spPr>
          <a:xfrm>
            <a:off x="8275320" y="1508760"/>
            <a:ext cx="310896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What the checks caught</a:t>
            </a:r>
            <a:endParaRPr lang="en-US" sz="1700" dirty="0"/>
          </a:p>
        </p:txBody>
      </p:sp>
      <p:sp>
        <p:nvSpPr>
          <p:cNvPr id="24" name="Text 21"/>
          <p:cNvSpPr txBox="1"/>
          <p:nvPr/>
        </p:nvSpPr>
        <p:spPr>
          <a:xfrm>
            <a:off x="8275320" y="2057400"/>
            <a:ext cx="310896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Empty 2012 and 2017 dates from the date dimension buffer</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Profit Swing showing all nulls until Compute Using was set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Top 10 in Tableau versus Top 20 in SQL Q1</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RANK versus ROW_NUMBER on tied order lines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The Executive Overview: six numbers to start with</a:t>
            </a:r>
            <a:endParaRPr lang="en-US" sz="3000" dirty="0"/>
          </a:p>
        </p:txBody>
      </p:sp>
      <p:sp>
        <p:nvSpPr>
          <p:cNvPr id="4" name="KPICard"/>
          <p:cNvSpPr/>
          <p:nvPr/>
        </p:nvSpPr>
        <p:spPr>
          <a:xfrm>
            <a:off x="548640" y="1371600"/>
            <a:ext cx="2148840" cy="1371600"/>
          </a:xfrm>
          <a:prstGeom prst="roundRect">
            <a:avLst>
              <a:gd name="adj" fmla="val 66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Text 2"/>
          <p:cNvSpPr txBox="1"/>
          <p:nvPr/>
        </p:nvSpPr>
        <p:spPr>
          <a:xfrm>
            <a:off x="548640" y="1600200"/>
            <a:ext cx="2148840" cy="64008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$501,240</a:t>
            </a:r>
            <a:endParaRPr lang="en-US" sz="2800" dirty="0"/>
          </a:p>
        </p:txBody>
      </p:sp>
      <p:sp>
        <p:nvSpPr>
          <p:cNvPr id="6" name="Text 3"/>
          <p:cNvSpPr txBox="1"/>
          <p:nvPr/>
        </p:nvSpPr>
        <p:spPr>
          <a:xfrm>
            <a:off x="548640" y="2240280"/>
            <a:ext cx="2148840" cy="320040"/>
          </a:xfrm>
          <a:prstGeom prst="rect">
            <a:avLst/>
          </a:prstGeom>
          <a:noFill/>
          <a:ln/>
        </p:spPr>
        <p:txBody>
          <a:bodyPr wrap="square" lIns="0" tIns="0" rIns="0" bIns="0" rtlCol="0" anchor="t"/>
          <a:lstStyle/>
          <a:p>
            <a:pPr marL="0" indent="0" algn="ctr">
              <a:buNone/>
            </a:pPr>
            <a:r>
              <a:rPr lang="en-US" sz="1300" dirty="0">
                <a:solidFill>
                  <a:srgbClr val="000000"/>
                </a:solidFill>
                <a:latin typeface="Calibri" pitchFamily="34" charset="0"/>
                <a:ea typeface="Calibri" pitchFamily="34" charset="-122"/>
                <a:cs typeface="Calibri" pitchFamily="34" charset="-120"/>
              </a:rPr>
              <a:t>Total Sales</a:t>
            </a:r>
            <a:endParaRPr lang="en-US" sz="1300" dirty="0"/>
          </a:p>
        </p:txBody>
      </p:sp>
      <p:sp>
        <p:nvSpPr>
          <p:cNvPr id="7" name="KPICard"/>
          <p:cNvSpPr/>
          <p:nvPr/>
        </p:nvSpPr>
        <p:spPr>
          <a:xfrm>
            <a:off x="2880360" y="1371600"/>
            <a:ext cx="2148840" cy="1371600"/>
          </a:xfrm>
          <a:prstGeom prst="roundRect">
            <a:avLst>
              <a:gd name="adj" fmla="val 66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2880360" y="1600200"/>
            <a:ext cx="2148840" cy="64008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$39,706</a:t>
            </a:r>
            <a:endParaRPr lang="en-US" sz="2800" dirty="0"/>
          </a:p>
        </p:txBody>
      </p:sp>
      <p:sp>
        <p:nvSpPr>
          <p:cNvPr id="9" name="Text 6"/>
          <p:cNvSpPr txBox="1"/>
          <p:nvPr/>
        </p:nvSpPr>
        <p:spPr>
          <a:xfrm>
            <a:off x="2880360" y="2240280"/>
            <a:ext cx="2148840" cy="320040"/>
          </a:xfrm>
          <a:prstGeom prst="rect">
            <a:avLst/>
          </a:prstGeom>
          <a:noFill/>
          <a:ln/>
        </p:spPr>
        <p:txBody>
          <a:bodyPr wrap="square" lIns="0" tIns="0" rIns="0" bIns="0" rtlCol="0" anchor="t"/>
          <a:lstStyle/>
          <a:p>
            <a:pPr marL="0" indent="0" algn="ctr">
              <a:buNone/>
            </a:pPr>
            <a:r>
              <a:rPr lang="en-US" sz="1300" dirty="0">
                <a:solidFill>
                  <a:srgbClr val="000000"/>
                </a:solidFill>
                <a:latin typeface="Calibri" pitchFamily="34" charset="0"/>
                <a:ea typeface="Calibri" pitchFamily="34" charset="-122"/>
                <a:cs typeface="Calibri" pitchFamily="34" charset="-120"/>
              </a:rPr>
              <a:t>Total Profit</a:t>
            </a:r>
            <a:endParaRPr lang="en-US" sz="1300" dirty="0"/>
          </a:p>
        </p:txBody>
      </p:sp>
      <p:sp>
        <p:nvSpPr>
          <p:cNvPr id="10" name="KPICard"/>
          <p:cNvSpPr/>
          <p:nvPr/>
        </p:nvSpPr>
        <p:spPr>
          <a:xfrm>
            <a:off x="5212080" y="1371600"/>
            <a:ext cx="2148840" cy="1371600"/>
          </a:xfrm>
          <a:prstGeom prst="roundRect">
            <a:avLst>
              <a:gd name="adj" fmla="val 6667"/>
            </a:avLst>
          </a:prstGeom>
          <a:solidFill>
            <a:schemeClr val="tx2"/>
          </a:solidFill>
          <a:ln/>
          <a:effectLst>
            <a:outerShdw blurRad="101600" dist="25400" dir="5400000" algn="bl" rotWithShape="0">
              <a:srgbClr val="000000">
                <a:alpha val="10000"/>
              </a:srgbClr>
            </a:outerShdw>
          </a:effectLst>
        </p:spPr>
        <p:txBody>
          <a:bodyPr/>
          <a:lstStyle/>
          <a:p>
            <a:endParaRPr lang="en-US"/>
          </a:p>
        </p:txBody>
      </p:sp>
      <p:sp>
        <p:nvSpPr>
          <p:cNvPr id="11" name="Text 8"/>
          <p:cNvSpPr txBox="1"/>
          <p:nvPr/>
        </p:nvSpPr>
        <p:spPr>
          <a:xfrm>
            <a:off x="5212080" y="1600200"/>
            <a:ext cx="2148840" cy="640080"/>
          </a:xfrm>
          <a:prstGeom prst="rect">
            <a:avLst/>
          </a:prstGeom>
          <a:noFill/>
          <a:ln/>
        </p:spPr>
        <p:txBody>
          <a:bodyPr wrap="square" lIns="0" tIns="0" rIns="0" bIns="0" rtlCol="0" anchor="ctr"/>
          <a:lstStyle/>
          <a:p>
            <a:pPr marL="0" indent="0" algn="ctr">
              <a:buNone/>
            </a:pPr>
            <a:r>
              <a:rPr lang="en-US" sz="2800" b="1" dirty="0">
                <a:solidFill>
                  <a:schemeClr val="accent3"/>
                </a:solidFill>
                <a:latin typeface="Cambria" pitchFamily="34" charset="0"/>
                <a:ea typeface="Cambria" pitchFamily="34" charset="-122"/>
                <a:cs typeface="Cambria" pitchFamily="34" charset="-120"/>
              </a:rPr>
              <a:t>7.92%</a:t>
            </a:r>
            <a:endParaRPr lang="en-US" sz="2800" dirty="0"/>
          </a:p>
        </p:txBody>
      </p:sp>
      <p:sp>
        <p:nvSpPr>
          <p:cNvPr id="12" name="Text 9"/>
          <p:cNvSpPr txBox="1"/>
          <p:nvPr/>
        </p:nvSpPr>
        <p:spPr>
          <a:xfrm>
            <a:off x="5212080" y="2240280"/>
            <a:ext cx="2148840" cy="320040"/>
          </a:xfrm>
          <a:prstGeom prst="rect">
            <a:avLst/>
          </a:prstGeom>
          <a:noFill/>
          <a:ln/>
        </p:spPr>
        <p:txBody>
          <a:bodyPr wrap="square" lIns="0" tIns="0" rIns="0" bIns="0" rtlCol="0" anchor="t"/>
          <a:lstStyle/>
          <a:p>
            <a:pPr marL="0" indent="0" algn="ctr">
              <a:buNone/>
            </a:pPr>
            <a:r>
              <a:rPr lang="en-US" sz="1300" dirty="0">
                <a:solidFill>
                  <a:schemeClr val="bg2"/>
                </a:solidFill>
                <a:latin typeface="Calibri" pitchFamily="34" charset="0"/>
                <a:ea typeface="Calibri" pitchFamily="34" charset="-122"/>
                <a:cs typeface="Calibri" pitchFamily="34" charset="-120"/>
              </a:rPr>
              <a:t>Profit Margin</a:t>
            </a:r>
            <a:endParaRPr lang="en-US" sz="1300" dirty="0"/>
          </a:p>
        </p:txBody>
      </p:sp>
      <p:sp>
        <p:nvSpPr>
          <p:cNvPr id="13" name="KPICard"/>
          <p:cNvSpPr/>
          <p:nvPr/>
        </p:nvSpPr>
        <p:spPr>
          <a:xfrm>
            <a:off x="548640" y="2926080"/>
            <a:ext cx="2148840" cy="1371600"/>
          </a:xfrm>
          <a:prstGeom prst="roundRect">
            <a:avLst>
              <a:gd name="adj" fmla="val 66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4" name="Text 11"/>
          <p:cNvSpPr txBox="1"/>
          <p:nvPr/>
        </p:nvSpPr>
        <p:spPr>
          <a:xfrm>
            <a:off x="548640" y="3154680"/>
            <a:ext cx="2148840" cy="64008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1,175</a:t>
            </a:r>
            <a:endParaRPr lang="en-US" sz="2800" dirty="0"/>
          </a:p>
        </p:txBody>
      </p:sp>
      <p:sp>
        <p:nvSpPr>
          <p:cNvPr id="15" name="Text 12"/>
          <p:cNvSpPr txBox="1"/>
          <p:nvPr/>
        </p:nvSpPr>
        <p:spPr>
          <a:xfrm>
            <a:off x="548640" y="3794760"/>
            <a:ext cx="2148840" cy="320040"/>
          </a:xfrm>
          <a:prstGeom prst="rect">
            <a:avLst/>
          </a:prstGeom>
          <a:noFill/>
          <a:ln/>
        </p:spPr>
        <p:txBody>
          <a:bodyPr wrap="square" lIns="0" tIns="0" rIns="0" bIns="0" rtlCol="0" anchor="t"/>
          <a:lstStyle/>
          <a:p>
            <a:pPr marL="0" indent="0" algn="ctr">
              <a:buNone/>
            </a:pPr>
            <a:r>
              <a:rPr lang="en-US" sz="1300" dirty="0">
                <a:solidFill>
                  <a:srgbClr val="000000"/>
                </a:solidFill>
                <a:latin typeface="Calibri" pitchFamily="34" charset="0"/>
                <a:ea typeface="Calibri" pitchFamily="34" charset="-122"/>
                <a:cs typeface="Calibri" pitchFamily="34" charset="-120"/>
              </a:rPr>
              <a:t>Total Orders</a:t>
            </a:r>
            <a:endParaRPr lang="en-US" sz="1300" dirty="0"/>
          </a:p>
        </p:txBody>
      </p:sp>
      <p:sp>
        <p:nvSpPr>
          <p:cNvPr id="16" name="KPICard"/>
          <p:cNvSpPr/>
          <p:nvPr/>
        </p:nvSpPr>
        <p:spPr>
          <a:xfrm>
            <a:off x="2880360" y="2926080"/>
            <a:ext cx="2148840" cy="1371600"/>
          </a:xfrm>
          <a:prstGeom prst="roundRect">
            <a:avLst>
              <a:gd name="adj" fmla="val 66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7" name="Text 14"/>
          <p:cNvSpPr txBox="1"/>
          <p:nvPr/>
        </p:nvSpPr>
        <p:spPr>
          <a:xfrm>
            <a:off x="2880360" y="3154680"/>
            <a:ext cx="2148840" cy="64008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629</a:t>
            </a:r>
            <a:endParaRPr lang="en-US" sz="2800" dirty="0"/>
          </a:p>
        </p:txBody>
      </p:sp>
      <p:sp>
        <p:nvSpPr>
          <p:cNvPr id="18" name="Text 15"/>
          <p:cNvSpPr txBox="1"/>
          <p:nvPr/>
        </p:nvSpPr>
        <p:spPr>
          <a:xfrm>
            <a:off x="2880360" y="3794760"/>
            <a:ext cx="2148840" cy="320040"/>
          </a:xfrm>
          <a:prstGeom prst="rect">
            <a:avLst/>
          </a:prstGeom>
          <a:noFill/>
          <a:ln/>
        </p:spPr>
        <p:txBody>
          <a:bodyPr wrap="square" lIns="0" tIns="0" rIns="0" bIns="0" rtlCol="0" anchor="t"/>
          <a:lstStyle/>
          <a:p>
            <a:pPr marL="0" indent="0" algn="ctr">
              <a:buNone/>
            </a:pPr>
            <a:r>
              <a:rPr lang="en-US" sz="1300" dirty="0">
                <a:solidFill>
                  <a:srgbClr val="000000"/>
                </a:solidFill>
                <a:latin typeface="Calibri" pitchFamily="34" charset="0"/>
                <a:ea typeface="Calibri" pitchFamily="34" charset="-122"/>
                <a:cs typeface="Calibri" pitchFamily="34" charset="-120"/>
              </a:rPr>
              <a:t>Total Customers</a:t>
            </a:r>
            <a:endParaRPr lang="en-US" sz="1300" dirty="0"/>
          </a:p>
        </p:txBody>
      </p:sp>
      <p:sp>
        <p:nvSpPr>
          <p:cNvPr id="19" name="KPICard"/>
          <p:cNvSpPr/>
          <p:nvPr/>
        </p:nvSpPr>
        <p:spPr>
          <a:xfrm>
            <a:off x="5212080" y="2926080"/>
            <a:ext cx="2148840" cy="1371600"/>
          </a:xfrm>
          <a:prstGeom prst="roundRect">
            <a:avLst>
              <a:gd name="adj" fmla="val 66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Text 17"/>
          <p:cNvSpPr txBox="1"/>
          <p:nvPr/>
        </p:nvSpPr>
        <p:spPr>
          <a:xfrm>
            <a:off x="5212080" y="3154680"/>
            <a:ext cx="2148840" cy="640080"/>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$426.59</a:t>
            </a:r>
            <a:endParaRPr lang="en-US" sz="2800" dirty="0"/>
          </a:p>
        </p:txBody>
      </p:sp>
      <p:sp>
        <p:nvSpPr>
          <p:cNvPr id="21" name="Text 18"/>
          <p:cNvSpPr txBox="1"/>
          <p:nvPr/>
        </p:nvSpPr>
        <p:spPr>
          <a:xfrm>
            <a:off x="5212080" y="3794760"/>
            <a:ext cx="2148840" cy="320040"/>
          </a:xfrm>
          <a:prstGeom prst="rect">
            <a:avLst/>
          </a:prstGeom>
          <a:noFill/>
          <a:ln/>
        </p:spPr>
        <p:txBody>
          <a:bodyPr wrap="square" lIns="0" tIns="0" rIns="0" bIns="0" rtlCol="0" anchor="t"/>
          <a:lstStyle/>
          <a:p>
            <a:pPr marL="0" indent="0" algn="ctr">
              <a:buNone/>
            </a:pPr>
            <a:r>
              <a:rPr lang="en-US" sz="1300" dirty="0">
                <a:solidFill>
                  <a:srgbClr val="000000"/>
                </a:solidFill>
                <a:latin typeface="Calibri" pitchFamily="34" charset="0"/>
                <a:ea typeface="Calibri" pitchFamily="34" charset="-122"/>
                <a:cs typeface="Calibri" pitchFamily="34" charset="-120"/>
              </a:rPr>
              <a:t>Avg Order Value</a:t>
            </a:r>
            <a:endParaRPr lang="en-US" sz="1300" dirty="0"/>
          </a:p>
        </p:txBody>
      </p:sp>
      <p:sp>
        <p:nvSpPr>
          <p:cNvPr id="22" name="Text 19"/>
          <p:cNvSpPr txBox="1"/>
          <p:nvPr/>
        </p:nvSpPr>
        <p:spPr>
          <a:xfrm>
            <a:off x="548640" y="4526280"/>
            <a:ext cx="6812280" cy="365760"/>
          </a:xfrm>
          <a:prstGeom prst="rect">
            <a:avLst/>
          </a:prstGeom>
          <a:noFill/>
          <a:ln/>
        </p:spPr>
        <p:txBody>
          <a:bodyPr wrap="square" lIns="0" tIns="0" rIns="0" bIns="0" rtlCol="0" anchor="t"/>
          <a:lstStyle/>
          <a:p>
            <a:pPr marL="0" indent="0">
              <a:buNone/>
            </a:pPr>
            <a:r>
              <a:rPr lang="en-US" sz="1200" i="1" dirty="0">
                <a:solidFill>
                  <a:srgbClr val="000000"/>
                </a:solidFill>
                <a:latin typeface="Calibri" pitchFamily="34" charset="0"/>
                <a:ea typeface="Calibri" pitchFamily="34" charset="-122"/>
                <a:cs typeface="Calibri" pitchFamily="34" charset="-120"/>
              </a:rPr>
              <a:t>Average order value = sales divided by distinct orders, so multi-line orders count once</a:t>
            </a:r>
            <a:endParaRPr lang="en-US" sz="1200" dirty="0"/>
          </a:p>
        </p:txBody>
      </p:sp>
      <p:sp>
        <p:nvSpPr>
          <p:cNvPr id="23" name="FilterCard"/>
          <p:cNvSpPr/>
          <p:nvPr/>
        </p:nvSpPr>
        <p:spPr>
          <a:xfrm>
            <a:off x="548640" y="5029200"/>
            <a:ext cx="6812280" cy="1143000"/>
          </a:xfrm>
          <a:prstGeom prst="roundRect">
            <a:avLst>
              <a:gd name="adj" fmla="val 8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4" name="IconCircle"/>
          <p:cNvSpPr/>
          <p:nvPr/>
        </p:nvSpPr>
        <p:spPr>
          <a:xfrm>
            <a:off x="777240" y="5230368"/>
            <a:ext cx="731520" cy="731520"/>
          </a:xfrm>
          <a:prstGeom prst="ellipse">
            <a:avLst/>
          </a:prstGeom>
          <a:solidFill>
            <a:schemeClr val="accent2"/>
          </a:solidFill>
          <a:ln/>
        </p:spPr>
        <p:txBody>
          <a:bodyPr/>
          <a:lstStyle/>
          <a:p>
            <a:endParaRPr lang="en-US"/>
          </a:p>
        </p:txBody>
      </p:sp>
      <p:pic>
        <p:nvPicPr>
          <p:cNvPr id="25" name="Image 0" descr="icon"/>
          <p:cNvPicPr>
            <a:picLocks noChangeAspect="1"/>
          </p:cNvPicPr>
          <p:nvPr/>
        </p:nvPicPr>
        <p:blipFill>
          <a:blip r:embed="rId3"/>
          <a:stretch>
            <a:fillRect/>
          </a:stretch>
        </p:blipFill>
        <p:spPr>
          <a:xfrm>
            <a:off x="952805" y="5405933"/>
            <a:ext cx="380390" cy="380390"/>
          </a:xfrm>
          <a:prstGeom prst="rect">
            <a:avLst/>
          </a:prstGeom>
        </p:spPr>
      </p:pic>
      <p:sp>
        <p:nvSpPr>
          <p:cNvPr id="26" name="Text 22"/>
          <p:cNvSpPr txBox="1"/>
          <p:nvPr/>
        </p:nvSpPr>
        <p:spPr>
          <a:xfrm>
            <a:off x="1691640" y="5120640"/>
            <a:ext cx="5486400" cy="96012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Four filters keep it explorable: Year, Category, Region and Segment</a:t>
            </a:r>
            <a:endParaRPr lang="en-US" sz="1600" dirty="0"/>
          </a:p>
        </p:txBody>
      </p:sp>
      <p:sp>
        <p:nvSpPr>
          <p:cNvPr id="27" name="QuestionsCard"/>
          <p:cNvSpPr/>
          <p:nvPr/>
        </p:nvSpPr>
        <p:spPr>
          <a:xfrm>
            <a:off x="7726680" y="1371600"/>
            <a:ext cx="3886200" cy="4800600"/>
          </a:xfrm>
          <a:prstGeom prst="roundRect">
            <a:avLst>
              <a:gd name="adj" fmla="val 2353"/>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8" name="Text 24"/>
          <p:cNvSpPr txBox="1"/>
          <p:nvPr/>
        </p:nvSpPr>
        <p:spPr>
          <a:xfrm>
            <a:off x="7955280" y="1508760"/>
            <a:ext cx="34747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Questions it answers</a:t>
            </a:r>
            <a:endParaRPr lang="en-US" sz="1700" dirty="0"/>
          </a:p>
        </p:txBody>
      </p:sp>
      <p:sp>
        <p:nvSpPr>
          <p:cNvPr id="29" name="Text 25"/>
          <p:cNvSpPr txBox="1"/>
          <p:nvPr/>
        </p:nvSpPr>
        <p:spPr>
          <a:xfrm>
            <a:off x="7955280" y="2057400"/>
            <a:ext cx="3474720" cy="39319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How big is the business?</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Is it profitable, and how thinly?</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How do sales and profit move month by month?</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Which categories and regions carry the revenue?</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Which products sell the most?</a:t>
            </a:r>
            <a:endParaRPr lang="en-US" sz="17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What it revealed: balanced sales, uneven profit</a:t>
            </a:r>
            <a:endParaRPr lang="en-US" sz="3000" dirty="0"/>
          </a:p>
        </p:txBody>
      </p:sp>
      <p:graphicFrame>
        <p:nvGraphicFramePr>
          <p:cNvPr id="4" name="Chart 0"/>
          <p:cNvGraphicFramePr/>
          <p:nvPr/>
        </p:nvGraphicFramePr>
        <p:xfrm>
          <a:off x="548640" y="1371600"/>
          <a:ext cx="65836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548640" y="5989320"/>
            <a:ext cx="6583680" cy="274320"/>
          </a:xfrm>
          <a:prstGeom prst="rect">
            <a:avLst/>
          </a:prstGeom>
          <a:noFill/>
          <a:ln/>
        </p:spPr>
        <p:txBody>
          <a:bodyPr wrap="square" lIns="0" tIns="0" rIns="0" bIns="0" rtlCol="0" anchor="t"/>
          <a:lstStyle/>
          <a:p>
            <a:pPr marL="0" indent="0">
              <a:buNone/>
            </a:pPr>
            <a:r>
              <a:rPr lang="en-US" sz="1000" i="1" dirty="0">
                <a:solidFill>
                  <a:srgbClr val="000000"/>
                </a:solidFill>
                <a:latin typeface="Calibri" pitchFamily="34" charset="0"/>
                <a:ea typeface="Calibri" pitchFamily="34" charset="-122"/>
                <a:cs typeface="Calibri" pitchFamily="34" charset="-120"/>
              </a:rPr>
              <a:t>Chart rebuilt from Central_Superstore.csv</a:t>
            </a:r>
            <a:endParaRPr lang="en-US" sz="1000" dirty="0"/>
          </a:p>
        </p:txBody>
      </p:sp>
      <p:sp>
        <p:nvSpPr>
          <p:cNvPr id="6" name="FindingCard"/>
          <p:cNvSpPr/>
          <p:nvPr/>
        </p:nvSpPr>
        <p:spPr>
          <a:xfrm>
            <a:off x="7452360" y="1371600"/>
            <a:ext cx="41605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7" name="Text 3"/>
          <p:cNvSpPr txBox="1"/>
          <p:nvPr/>
        </p:nvSpPr>
        <p:spPr>
          <a:xfrm>
            <a:off x="7635240" y="1554480"/>
            <a:ext cx="1600200" cy="105156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84.9%</a:t>
            </a:r>
            <a:endParaRPr lang="en-US" sz="2800" dirty="0"/>
          </a:p>
        </p:txBody>
      </p:sp>
      <p:sp>
        <p:nvSpPr>
          <p:cNvPr id="8" name="Text 4"/>
          <p:cNvSpPr txBox="1"/>
          <p:nvPr/>
        </p:nvSpPr>
        <p:spPr>
          <a:xfrm>
            <a:off x="9281160" y="1554480"/>
            <a:ext cx="2194560" cy="105156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of all profit comes from Technology</a:t>
            </a:r>
            <a:endParaRPr lang="en-US" sz="1400" dirty="0"/>
          </a:p>
        </p:txBody>
      </p:sp>
      <p:sp>
        <p:nvSpPr>
          <p:cNvPr id="9" name="FindingCard"/>
          <p:cNvSpPr/>
          <p:nvPr/>
        </p:nvSpPr>
        <p:spPr>
          <a:xfrm>
            <a:off x="7452360" y="2971800"/>
            <a:ext cx="41605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0" name="Text 6"/>
          <p:cNvSpPr txBox="1"/>
          <p:nvPr/>
        </p:nvSpPr>
        <p:spPr>
          <a:xfrm>
            <a:off x="7635240" y="3154680"/>
            <a:ext cx="1600200" cy="105156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-$2.9K</a:t>
            </a:r>
            <a:endParaRPr lang="en-US" sz="2800" dirty="0"/>
          </a:p>
        </p:txBody>
      </p:sp>
      <p:sp>
        <p:nvSpPr>
          <p:cNvPr id="11" name="Text 7"/>
          <p:cNvSpPr txBox="1"/>
          <p:nvPr/>
        </p:nvSpPr>
        <p:spPr>
          <a:xfrm>
            <a:off x="9281160" y="3154680"/>
            <a:ext cx="2194560" cy="105156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Furniture lost money on $164K of sales</a:t>
            </a:r>
            <a:endParaRPr lang="en-US" sz="1400" dirty="0"/>
          </a:p>
        </p:txBody>
      </p:sp>
      <p:sp>
        <p:nvSpPr>
          <p:cNvPr id="12" name="FindingCard"/>
          <p:cNvSpPr/>
          <p:nvPr/>
        </p:nvSpPr>
        <p:spPr>
          <a:xfrm>
            <a:off x="7452360" y="4572000"/>
            <a:ext cx="41605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3" name="Text 9"/>
          <p:cNvSpPr txBox="1"/>
          <p:nvPr/>
        </p:nvSpPr>
        <p:spPr>
          <a:xfrm>
            <a:off x="7635240" y="4754880"/>
            <a:ext cx="1600200" cy="105156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3 of 3</a:t>
            </a:r>
            <a:endParaRPr lang="en-US" sz="2800" dirty="0"/>
          </a:p>
        </p:txBody>
      </p:sp>
      <p:sp>
        <p:nvSpPr>
          <p:cNvPr id="14" name="Text 10"/>
          <p:cNvSpPr txBox="1"/>
          <p:nvPr/>
        </p:nvSpPr>
        <p:spPr>
          <a:xfrm>
            <a:off x="9281160" y="4754880"/>
            <a:ext cx="2194560" cy="105156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categories sell about the same, yet profit is very uneven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Sales trends: growth, and a strong autumn</a:t>
            </a:r>
            <a:endParaRPr lang="en-US" sz="3000" dirty="0"/>
          </a:p>
        </p:txBody>
      </p:sp>
      <p:graphicFrame>
        <p:nvGraphicFramePr>
          <p:cNvPr id="4" name="Chart 0"/>
          <p:cNvGraphicFramePr/>
          <p:nvPr/>
        </p:nvGraphicFramePr>
        <p:xfrm>
          <a:off x="548640" y="1325880"/>
          <a:ext cx="539496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17920" y="1325880"/>
          <a:ext cx="539496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1"/>
          <p:cNvSpPr txBox="1"/>
          <p:nvPr/>
        </p:nvSpPr>
        <p:spPr>
          <a:xfrm>
            <a:off x="548640" y="4663440"/>
            <a:ext cx="10972800" cy="274320"/>
          </a:xfrm>
          <a:prstGeom prst="rect">
            <a:avLst/>
          </a:prstGeom>
          <a:noFill/>
          <a:ln/>
        </p:spPr>
        <p:txBody>
          <a:bodyPr wrap="square" lIns="0" tIns="0" rIns="0" bIns="0" rtlCol="0" anchor="t"/>
          <a:lstStyle/>
          <a:p>
            <a:pPr marL="0" indent="0">
              <a:buNone/>
            </a:pPr>
            <a:r>
              <a:rPr lang="en-US" sz="1000" i="1" dirty="0">
                <a:solidFill>
                  <a:srgbClr val="000000"/>
                </a:solidFill>
                <a:latin typeface="Calibri" pitchFamily="34" charset="0"/>
                <a:ea typeface="Calibri" pitchFamily="34" charset="-122"/>
                <a:cs typeface="Calibri" pitchFamily="34" charset="-120"/>
              </a:rPr>
              <a:t>Charts rebuilt from Central_Superstore.csv. Monthly values are the 4-year total divided by 4.</a:t>
            </a:r>
            <a:endParaRPr lang="en-US" sz="1000" dirty="0"/>
          </a:p>
        </p:txBody>
      </p:sp>
      <p:sp>
        <p:nvSpPr>
          <p:cNvPr id="7" name="TrendCard"/>
          <p:cNvSpPr/>
          <p:nvPr/>
        </p:nvSpPr>
        <p:spPr>
          <a:xfrm>
            <a:off x="548640" y="5029200"/>
            <a:ext cx="3566160" cy="1188720"/>
          </a:xfrm>
          <a:prstGeom prst="roundRect">
            <a:avLst>
              <a:gd name="adj" fmla="val 769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8" name="Text 3"/>
          <p:cNvSpPr txBox="1"/>
          <p:nvPr/>
        </p:nvSpPr>
        <p:spPr>
          <a:xfrm>
            <a:off x="731520" y="5120640"/>
            <a:ext cx="1188720" cy="100584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+43%</a:t>
            </a:r>
            <a:endParaRPr lang="en-US" sz="2600" dirty="0"/>
          </a:p>
        </p:txBody>
      </p:sp>
      <p:sp>
        <p:nvSpPr>
          <p:cNvPr id="9" name="Text 4"/>
          <p:cNvSpPr txBox="1"/>
          <p:nvPr/>
        </p:nvSpPr>
        <p:spPr>
          <a:xfrm>
            <a:off x="1920240" y="5120640"/>
            <a:ext cx="2103120" cy="1005840"/>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2015 sales jump over 2014 ($103K to $147K)</a:t>
            </a:r>
            <a:endParaRPr lang="en-US" sz="1300" dirty="0"/>
          </a:p>
        </p:txBody>
      </p:sp>
      <p:sp>
        <p:nvSpPr>
          <p:cNvPr id="10" name="TrendCard"/>
          <p:cNvSpPr/>
          <p:nvPr/>
        </p:nvSpPr>
        <p:spPr>
          <a:xfrm>
            <a:off x="4297680" y="5029200"/>
            <a:ext cx="3566160" cy="1188720"/>
          </a:xfrm>
          <a:prstGeom prst="roundRect">
            <a:avLst>
              <a:gd name="adj" fmla="val 769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1" name="Text 6"/>
          <p:cNvSpPr txBox="1"/>
          <p:nvPr/>
        </p:nvSpPr>
        <p:spPr>
          <a:xfrm>
            <a:off x="4480560" y="5120640"/>
            <a:ext cx="1188720" cy="100584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53%</a:t>
            </a:r>
            <a:endParaRPr lang="en-US" sz="2600" dirty="0"/>
          </a:p>
        </p:txBody>
      </p:sp>
      <p:sp>
        <p:nvSpPr>
          <p:cNvPr id="12" name="Text 7"/>
          <p:cNvSpPr txBox="1"/>
          <p:nvPr/>
        </p:nvSpPr>
        <p:spPr>
          <a:xfrm>
            <a:off x="5669280" y="5120640"/>
            <a:ext cx="2103120" cy="1005840"/>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of all sales land between September and December</a:t>
            </a:r>
            <a:endParaRPr lang="en-US" sz="1300" dirty="0"/>
          </a:p>
        </p:txBody>
      </p:sp>
      <p:sp>
        <p:nvSpPr>
          <p:cNvPr id="13" name="TrendCard"/>
          <p:cNvSpPr/>
          <p:nvPr/>
        </p:nvSpPr>
        <p:spPr>
          <a:xfrm>
            <a:off x="8046720" y="5029200"/>
            <a:ext cx="3566160" cy="1188720"/>
          </a:xfrm>
          <a:prstGeom prst="roundRect">
            <a:avLst>
              <a:gd name="adj" fmla="val 769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4" name="Text 9"/>
          <p:cNvSpPr txBox="1"/>
          <p:nvPr/>
        </p:nvSpPr>
        <p:spPr>
          <a:xfrm>
            <a:off x="8229600" y="5120640"/>
            <a:ext cx="1188720" cy="100584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Feb</a:t>
            </a:r>
            <a:endParaRPr lang="en-US" sz="2600" dirty="0"/>
          </a:p>
        </p:txBody>
      </p:sp>
      <p:sp>
        <p:nvSpPr>
          <p:cNvPr id="15" name="Text 10"/>
          <p:cNvSpPr txBox="1"/>
          <p:nvPr/>
        </p:nvSpPr>
        <p:spPr>
          <a:xfrm>
            <a:off x="9418320" y="5120640"/>
            <a:ext cx="2103120" cy="1005840"/>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is the weakest month, about $2K a year on average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Profitability: where the money is made and where it leaks</a:t>
            </a:r>
            <a:endParaRPr lang="en-US" sz="3000" dirty="0"/>
          </a:p>
        </p:txBody>
      </p:sp>
      <p:graphicFrame>
        <p:nvGraphicFramePr>
          <p:cNvPr id="4" name="Chart 0"/>
          <p:cNvGraphicFramePr/>
          <p:nvPr/>
        </p:nvGraphicFramePr>
        <p:xfrm>
          <a:off x="548640" y="1325880"/>
          <a:ext cx="5760720" cy="4754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583680" y="1325880"/>
          <a:ext cx="50292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6" name="InsightCard"/>
          <p:cNvSpPr/>
          <p:nvPr/>
        </p:nvSpPr>
        <p:spPr>
          <a:xfrm>
            <a:off x="6583680" y="4526280"/>
            <a:ext cx="5029200" cy="1554480"/>
          </a:xfrm>
          <a:prstGeom prst="roundRect">
            <a:avLst>
              <a:gd name="adj" fmla="val 588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7" name="Text 2"/>
          <p:cNvSpPr txBox="1"/>
          <p:nvPr/>
        </p:nvSpPr>
        <p:spPr>
          <a:xfrm>
            <a:off x="6766560" y="4617720"/>
            <a:ext cx="4663440" cy="137160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Technology and a few sub-categories carry the profit. Heavy discounting lines up with heavy losses, though it is an association, not proof of cause.</a:t>
            </a:r>
            <a:endParaRPr lang="en-US" sz="1400" dirty="0"/>
          </a:p>
        </p:txBody>
      </p:sp>
      <p:sp>
        <p:nvSpPr>
          <p:cNvPr id="8" name="Text 3"/>
          <p:cNvSpPr txBox="1"/>
          <p:nvPr/>
        </p:nvSpPr>
        <p:spPr>
          <a:xfrm>
            <a:off x="548640" y="6108192"/>
            <a:ext cx="5486400" cy="228600"/>
          </a:xfrm>
          <a:prstGeom prst="rect">
            <a:avLst/>
          </a:prstGeom>
          <a:noFill/>
          <a:ln/>
        </p:spPr>
        <p:txBody>
          <a:bodyPr wrap="square" lIns="0" tIns="0" rIns="0" bIns="0" rtlCol="0" anchor="t"/>
          <a:lstStyle/>
          <a:p>
            <a:pPr marL="0" indent="0">
              <a:buNone/>
            </a:pPr>
            <a:r>
              <a:rPr lang="en-US" sz="1000" i="1" dirty="0">
                <a:solidFill>
                  <a:srgbClr val="000000"/>
                </a:solidFill>
                <a:latin typeface="Calibri" pitchFamily="34" charset="0"/>
                <a:ea typeface="Calibri" pitchFamily="34" charset="-122"/>
                <a:cs typeface="Calibri" pitchFamily="34" charset="-120"/>
              </a:rPr>
              <a:t>Charts rebuilt from the dataset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Geography and shipping: our biggest state loses the most</a:t>
            </a:r>
            <a:endParaRPr lang="en-US" sz="3000" dirty="0"/>
          </a:p>
        </p:txBody>
      </p:sp>
      <p:graphicFrame>
        <p:nvGraphicFramePr>
          <p:cNvPr id="4" name="Chart 0"/>
          <p:cNvGraphicFramePr/>
          <p:nvPr/>
        </p:nvGraphicFramePr>
        <p:xfrm>
          <a:off x="548640" y="1325880"/>
          <a:ext cx="58521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548640" y="6108192"/>
            <a:ext cx="5486400" cy="228600"/>
          </a:xfrm>
          <a:prstGeom prst="rect">
            <a:avLst/>
          </a:prstGeom>
          <a:noFill/>
          <a:ln/>
        </p:spPr>
        <p:txBody>
          <a:bodyPr wrap="square" lIns="0" tIns="0" rIns="0" bIns="0" rtlCol="0" anchor="t"/>
          <a:lstStyle/>
          <a:p>
            <a:pPr marL="0" indent="0">
              <a:buNone/>
            </a:pPr>
            <a:r>
              <a:rPr lang="en-US" sz="1000" i="1" dirty="0">
                <a:solidFill>
                  <a:srgbClr val="000000"/>
                </a:solidFill>
                <a:latin typeface="Calibri" pitchFamily="34" charset="0"/>
                <a:ea typeface="Calibri" pitchFamily="34" charset="-122"/>
                <a:cs typeface="Calibri" pitchFamily="34" charset="-120"/>
              </a:rPr>
              <a:t>Chart rebuilt from the dataset</a:t>
            </a:r>
            <a:endParaRPr lang="en-US" sz="1000" dirty="0"/>
          </a:p>
        </p:txBody>
      </p:sp>
      <p:sp>
        <p:nvSpPr>
          <p:cNvPr id="6" name="Text 2"/>
          <p:cNvSpPr txBox="1"/>
          <p:nvPr/>
        </p:nvSpPr>
        <p:spPr>
          <a:xfrm>
            <a:off x="6675120" y="1371600"/>
            <a:ext cx="4937760" cy="274320"/>
          </a:xfrm>
          <a:prstGeom prst="rect">
            <a:avLst/>
          </a:prstGeom>
          <a:noFill/>
          <a:ln/>
        </p:spPr>
        <p:txBody>
          <a:bodyPr wrap="square" lIns="0" tIns="0" rIns="0" bIns="0" rtlCol="0" anchor="t"/>
          <a:lstStyle/>
          <a:p>
            <a:pPr marL="0" indent="0">
              <a:buNone/>
            </a:pPr>
            <a:r>
              <a:rPr lang="en-US" sz="1200" b="1" kern="0" spc="200" dirty="0">
                <a:solidFill>
                  <a:schemeClr val="accent1"/>
                </a:solidFill>
                <a:latin typeface="Calibri" pitchFamily="34" charset="0"/>
                <a:ea typeface="Calibri" pitchFamily="34" charset="-122"/>
                <a:cs typeface="Calibri" pitchFamily="34" charset="-120"/>
              </a:rPr>
              <a:t>SHIPPING AT A GLANCE</a:t>
            </a:r>
            <a:endParaRPr lang="en-US" sz="1200" dirty="0"/>
          </a:p>
        </p:txBody>
      </p:sp>
      <p:sp>
        <p:nvSpPr>
          <p:cNvPr id="7" name="ShipCard"/>
          <p:cNvSpPr/>
          <p:nvPr/>
        </p:nvSpPr>
        <p:spPr>
          <a:xfrm>
            <a:off x="6675120" y="1737360"/>
            <a:ext cx="4937760" cy="658368"/>
          </a:xfrm>
          <a:prstGeom prst="roundRect">
            <a:avLst>
              <a:gd name="adj" fmla="val 1388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8" name="Text 4"/>
          <p:cNvSpPr txBox="1"/>
          <p:nvPr/>
        </p:nvSpPr>
        <p:spPr>
          <a:xfrm>
            <a:off x="6858000" y="1737360"/>
            <a:ext cx="1828800" cy="658368"/>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Standard Class</a:t>
            </a:r>
            <a:endParaRPr lang="en-US" sz="1400" dirty="0"/>
          </a:p>
        </p:txBody>
      </p:sp>
      <p:sp>
        <p:nvSpPr>
          <p:cNvPr id="9" name="Text 5"/>
          <p:cNvSpPr txBox="1"/>
          <p:nvPr/>
        </p:nvSpPr>
        <p:spPr>
          <a:xfrm>
            <a:off x="8686800" y="1737360"/>
            <a:ext cx="1371600" cy="658368"/>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715 orders</a:t>
            </a:r>
            <a:endParaRPr lang="en-US" sz="1400" dirty="0"/>
          </a:p>
        </p:txBody>
      </p:sp>
      <p:sp>
        <p:nvSpPr>
          <p:cNvPr id="10" name="Text 6"/>
          <p:cNvSpPr txBox="1"/>
          <p:nvPr/>
        </p:nvSpPr>
        <p:spPr>
          <a:xfrm>
            <a:off x="10058400" y="1737360"/>
            <a:ext cx="1463040" cy="65836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8.0% margin</a:t>
            </a:r>
            <a:endParaRPr lang="en-US" sz="1400" dirty="0"/>
          </a:p>
        </p:txBody>
      </p:sp>
      <p:sp>
        <p:nvSpPr>
          <p:cNvPr id="11" name="ShipCard"/>
          <p:cNvSpPr/>
          <p:nvPr/>
        </p:nvSpPr>
        <p:spPr>
          <a:xfrm>
            <a:off x="6675120" y="2514600"/>
            <a:ext cx="4937760" cy="658368"/>
          </a:xfrm>
          <a:prstGeom prst="roundRect">
            <a:avLst>
              <a:gd name="adj" fmla="val 1388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2" name="Text 8"/>
          <p:cNvSpPr txBox="1"/>
          <p:nvPr/>
        </p:nvSpPr>
        <p:spPr>
          <a:xfrm>
            <a:off x="6858000" y="2514600"/>
            <a:ext cx="1828800" cy="658368"/>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Second Class</a:t>
            </a:r>
            <a:endParaRPr lang="en-US" sz="1400" dirty="0"/>
          </a:p>
        </p:txBody>
      </p:sp>
      <p:sp>
        <p:nvSpPr>
          <p:cNvPr id="13" name="Text 9"/>
          <p:cNvSpPr txBox="1"/>
          <p:nvPr/>
        </p:nvSpPr>
        <p:spPr>
          <a:xfrm>
            <a:off x="8686800" y="2514600"/>
            <a:ext cx="1371600" cy="658368"/>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224 orders</a:t>
            </a:r>
            <a:endParaRPr lang="en-US" sz="1400" dirty="0"/>
          </a:p>
        </p:txBody>
      </p:sp>
      <p:sp>
        <p:nvSpPr>
          <p:cNvPr id="14" name="Text 10"/>
          <p:cNvSpPr txBox="1"/>
          <p:nvPr/>
        </p:nvSpPr>
        <p:spPr>
          <a:xfrm>
            <a:off x="10058400" y="2514600"/>
            <a:ext cx="1463040" cy="65836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8.8% margin</a:t>
            </a:r>
            <a:endParaRPr lang="en-US" sz="1400" dirty="0"/>
          </a:p>
        </p:txBody>
      </p:sp>
      <p:sp>
        <p:nvSpPr>
          <p:cNvPr id="15" name="ShipCard"/>
          <p:cNvSpPr/>
          <p:nvPr/>
        </p:nvSpPr>
        <p:spPr>
          <a:xfrm>
            <a:off x="6675120" y="3291840"/>
            <a:ext cx="4937760" cy="658368"/>
          </a:xfrm>
          <a:prstGeom prst="roundRect">
            <a:avLst>
              <a:gd name="adj" fmla="val 1388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6" name="Text 12"/>
          <p:cNvSpPr txBox="1"/>
          <p:nvPr/>
        </p:nvSpPr>
        <p:spPr>
          <a:xfrm>
            <a:off x="6858000" y="3291840"/>
            <a:ext cx="1828800" cy="658368"/>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First Class</a:t>
            </a:r>
            <a:endParaRPr lang="en-US" sz="1400" dirty="0"/>
          </a:p>
        </p:txBody>
      </p:sp>
      <p:sp>
        <p:nvSpPr>
          <p:cNvPr id="17" name="Text 13"/>
          <p:cNvSpPr txBox="1"/>
          <p:nvPr/>
        </p:nvSpPr>
        <p:spPr>
          <a:xfrm>
            <a:off x="8686800" y="3291840"/>
            <a:ext cx="1371600" cy="658368"/>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174 orders</a:t>
            </a:r>
            <a:endParaRPr lang="en-US" sz="1400" dirty="0"/>
          </a:p>
        </p:txBody>
      </p:sp>
      <p:sp>
        <p:nvSpPr>
          <p:cNvPr id="18" name="Text 14"/>
          <p:cNvSpPr txBox="1"/>
          <p:nvPr/>
        </p:nvSpPr>
        <p:spPr>
          <a:xfrm>
            <a:off x="10058400" y="3291840"/>
            <a:ext cx="1463040" cy="65836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6.3% margin</a:t>
            </a:r>
            <a:endParaRPr lang="en-US" sz="1400" dirty="0"/>
          </a:p>
        </p:txBody>
      </p:sp>
      <p:sp>
        <p:nvSpPr>
          <p:cNvPr id="19" name="ShipCard"/>
          <p:cNvSpPr/>
          <p:nvPr/>
        </p:nvSpPr>
        <p:spPr>
          <a:xfrm>
            <a:off x="6675120" y="4069080"/>
            <a:ext cx="4937760" cy="658368"/>
          </a:xfrm>
          <a:prstGeom prst="roundRect">
            <a:avLst>
              <a:gd name="adj" fmla="val 13889"/>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Text 16"/>
          <p:cNvSpPr txBox="1"/>
          <p:nvPr/>
        </p:nvSpPr>
        <p:spPr>
          <a:xfrm>
            <a:off x="6858000" y="4069080"/>
            <a:ext cx="1828800" cy="658368"/>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Same Day</a:t>
            </a:r>
            <a:endParaRPr lang="en-US" sz="1400" dirty="0"/>
          </a:p>
        </p:txBody>
      </p:sp>
      <p:sp>
        <p:nvSpPr>
          <p:cNvPr id="21" name="Text 17"/>
          <p:cNvSpPr txBox="1"/>
          <p:nvPr/>
        </p:nvSpPr>
        <p:spPr>
          <a:xfrm>
            <a:off x="8686800" y="4069080"/>
            <a:ext cx="1371600" cy="658368"/>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62 orders</a:t>
            </a:r>
            <a:endParaRPr lang="en-US" sz="1400" dirty="0"/>
          </a:p>
        </p:txBody>
      </p:sp>
      <p:sp>
        <p:nvSpPr>
          <p:cNvPr id="22" name="Text 18"/>
          <p:cNvSpPr txBox="1"/>
          <p:nvPr/>
        </p:nvSpPr>
        <p:spPr>
          <a:xfrm>
            <a:off x="10058400" y="4069080"/>
            <a:ext cx="1463040" cy="65836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7.5% margin</a:t>
            </a:r>
            <a:endParaRPr lang="en-US" sz="1400" dirty="0"/>
          </a:p>
        </p:txBody>
      </p:sp>
      <p:sp>
        <p:nvSpPr>
          <p:cNvPr id="23" name="GeoCallout"/>
          <p:cNvSpPr/>
          <p:nvPr/>
        </p:nvSpPr>
        <p:spPr>
          <a:xfrm>
            <a:off x="6675120" y="4937760"/>
            <a:ext cx="4937760" cy="1143000"/>
          </a:xfrm>
          <a:prstGeom prst="roundRect">
            <a:avLst>
              <a:gd name="adj" fmla="val 8000"/>
            </a:avLst>
          </a:prstGeom>
          <a:solidFill>
            <a:schemeClr val="tx2"/>
          </a:solidFill>
          <a:ln/>
          <a:effectLst>
            <a:outerShdw blurRad="101600" dist="25400" dir="5400000" algn="bl" rotWithShape="0">
              <a:srgbClr val="000000">
                <a:alpha val="10000"/>
              </a:srgbClr>
            </a:outerShdw>
          </a:effectLst>
        </p:spPr>
        <p:txBody>
          <a:bodyPr/>
          <a:lstStyle/>
          <a:p>
            <a:endParaRPr lang="en-US"/>
          </a:p>
        </p:txBody>
      </p:sp>
      <p:sp>
        <p:nvSpPr>
          <p:cNvPr id="24" name="Text 20"/>
          <p:cNvSpPr txBox="1"/>
          <p:nvPr/>
        </p:nvSpPr>
        <p:spPr>
          <a:xfrm>
            <a:off x="6858000" y="4983480"/>
            <a:ext cx="4572000" cy="1051560"/>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Texas: $170K in sales, $25.7K lost. Michigan: $76K in sales, $24.5K earned.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Interactive features: letting people ask their own questions</a:t>
            </a:r>
            <a:endParaRPr lang="en-US" sz="3000" dirty="0"/>
          </a:p>
        </p:txBody>
      </p:sp>
      <p:sp>
        <p:nvSpPr>
          <p:cNvPr id="4" name="FeatureCard"/>
          <p:cNvSpPr/>
          <p:nvPr/>
        </p:nvSpPr>
        <p:spPr>
          <a:xfrm>
            <a:off x="548640" y="1371600"/>
            <a:ext cx="5440680" cy="2103120"/>
          </a:xfrm>
          <a:prstGeom prst="roundRect">
            <a:avLst>
              <a:gd name="adj" fmla="val 4348"/>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IconCircle"/>
          <p:cNvSpPr/>
          <p:nvPr/>
        </p:nvSpPr>
        <p:spPr>
          <a:xfrm>
            <a:off x="822960" y="1645920"/>
            <a:ext cx="731520" cy="731520"/>
          </a:xfrm>
          <a:prstGeom prst="ellipse">
            <a:avLst/>
          </a:prstGeom>
          <a:solidFill>
            <a:schemeClr val="accent1"/>
          </a:solidFill>
          <a:ln/>
        </p:spPr>
        <p:txBody>
          <a:bodyPr/>
          <a:lstStyle/>
          <a:p>
            <a:endParaRPr lang="en-US"/>
          </a:p>
        </p:txBody>
      </p:sp>
      <p:pic>
        <p:nvPicPr>
          <p:cNvPr id="6" name="Image 0" descr="icon"/>
          <p:cNvPicPr>
            <a:picLocks noChangeAspect="1"/>
          </p:cNvPicPr>
          <p:nvPr/>
        </p:nvPicPr>
        <p:blipFill>
          <a:blip r:embed="rId3"/>
          <a:stretch>
            <a:fillRect/>
          </a:stretch>
        </p:blipFill>
        <p:spPr>
          <a:xfrm>
            <a:off x="998525" y="1821485"/>
            <a:ext cx="380390" cy="380390"/>
          </a:xfrm>
          <a:prstGeom prst="rect">
            <a:avLst/>
          </a:prstGeom>
        </p:spPr>
      </p:pic>
      <p:sp>
        <p:nvSpPr>
          <p:cNvPr id="7" name="Text 3"/>
          <p:cNvSpPr txBox="1"/>
          <p:nvPr/>
        </p:nvSpPr>
        <p:spPr>
          <a:xfrm>
            <a:off x="1783080" y="1691640"/>
            <a:ext cx="402336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Filters</a:t>
            </a:r>
            <a:endParaRPr lang="en-US" sz="2000" dirty="0"/>
          </a:p>
        </p:txBody>
      </p:sp>
      <p:sp>
        <p:nvSpPr>
          <p:cNvPr id="8" name="Text 4"/>
          <p:cNvSpPr txBox="1"/>
          <p:nvPr/>
        </p:nvSpPr>
        <p:spPr>
          <a:xfrm>
            <a:off x="868680" y="246888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Year, Category, Region and Segment on the Executive page. Customer, Quarter, Month, State, City and Ship Mode appear where they matter.</a:t>
            </a:r>
            <a:endParaRPr lang="en-US" sz="1500" dirty="0"/>
          </a:p>
        </p:txBody>
      </p:sp>
      <p:sp>
        <p:nvSpPr>
          <p:cNvPr id="9" name="FeatureCard"/>
          <p:cNvSpPr/>
          <p:nvPr/>
        </p:nvSpPr>
        <p:spPr>
          <a:xfrm>
            <a:off x="6172200" y="1371600"/>
            <a:ext cx="5440680" cy="2103120"/>
          </a:xfrm>
          <a:prstGeom prst="roundRect">
            <a:avLst>
              <a:gd name="adj" fmla="val 4348"/>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0" name="IconCircle"/>
          <p:cNvSpPr/>
          <p:nvPr/>
        </p:nvSpPr>
        <p:spPr>
          <a:xfrm>
            <a:off x="6446520" y="1645920"/>
            <a:ext cx="731520" cy="731520"/>
          </a:xfrm>
          <a:prstGeom prst="ellipse">
            <a:avLst/>
          </a:prstGeom>
          <a:solidFill>
            <a:schemeClr val="accent2"/>
          </a:solidFill>
          <a:ln/>
        </p:spPr>
        <p:txBody>
          <a:bodyPr/>
          <a:lstStyle/>
          <a:p>
            <a:endParaRPr lang="en-US"/>
          </a:p>
        </p:txBody>
      </p:sp>
      <p:pic>
        <p:nvPicPr>
          <p:cNvPr id="11" name="Image 1" descr="icon"/>
          <p:cNvPicPr>
            <a:picLocks noChangeAspect="1"/>
          </p:cNvPicPr>
          <p:nvPr/>
        </p:nvPicPr>
        <p:blipFill>
          <a:blip r:embed="rId4"/>
          <a:stretch>
            <a:fillRect/>
          </a:stretch>
        </p:blipFill>
        <p:spPr>
          <a:xfrm>
            <a:off x="6622085" y="1821485"/>
            <a:ext cx="380390" cy="380390"/>
          </a:xfrm>
          <a:prstGeom prst="rect">
            <a:avLst/>
          </a:prstGeom>
        </p:spPr>
      </p:pic>
      <p:sp>
        <p:nvSpPr>
          <p:cNvPr id="12" name="Text 7"/>
          <p:cNvSpPr txBox="1"/>
          <p:nvPr/>
        </p:nvSpPr>
        <p:spPr>
          <a:xfrm>
            <a:off x="7406640" y="1691640"/>
            <a:ext cx="402336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Actions</a:t>
            </a:r>
            <a:endParaRPr lang="en-US" sz="2000" dirty="0"/>
          </a:p>
        </p:txBody>
      </p:sp>
      <p:sp>
        <p:nvSpPr>
          <p:cNvPr id="13" name="Text 8"/>
          <p:cNvSpPr txBox="1"/>
          <p:nvPr/>
        </p:nvSpPr>
        <p:spPr>
          <a:xfrm>
            <a:off x="6492240" y="246888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Selecting a category highlights it across the charts. Clicking a state on the map filters Geography Analysis.</a:t>
            </a:r>
            <a:endParaRPr lang="en-US" sz="1500" dirty="0"/>
          </a:p>
        </p:txBody>
      </p:sp>
      <p:sp>
        <p:nvSpPr>
          <p:cNvPr id="14" name="FeatureCard"/>
          <p:cNvSpPr/>
          <p:nvPr/>
        </p:nvSpPr>
        <p:spPr>
          <a:xfrm>
            <a:off x="548640" y="3657600"/>
            <a:ext cx="5440680" cy="2103120"/>
          </a:xfrm>
          <a:prstGeom prst="roundRect">
            <a:avLst>
              <a:gd name="adj" fmla="val 4348"/>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5" name="IconCircle"/>
          <p:cNvSpPr/>
          <p:nvPr/>
        </p:nvSpPr>
        <p:spPr>
          <a:xfrm>
            <a:off x="822960" y="3931920"/>
            <a:ext cx="731520" cy="731520"/>
          </a:xfrm>
          <a:prstGeom prst="ellipse">
            <a:avLst/>
          </a:prstGeom>
          <a:solidFill>
            <a:schemeClr val="accent1"/>
          </a:solidFill>
          <a:ln/>
        </p:spPr>
        <p:txBody>
          <a:bodyPr/>
          <a:lstStyle/>
          <a:p>
            <a:endParaRPr lang="en-US"/>
          </a:p>
        </p:txBody>
      </p:sp>
      <p:pic>
        <p:nvPicPr>
          <p:cNvPr id="16" name="Image 2" descr="icon"/>
          <p:cNvPicPr>
            <a:picLocks noChangeAspect="1"/>
          </p:cNvPicPr>
          <p:nvPr/>
        </p:nvPicPr>
        <p:blipFill>
          <a:blip r:embed="rId5"/>
          <a:stretch>
            <a:fillRect/>
          </a:stretch>
        </p:blipFill>
        <p:spPr>
          <a:xfrm>
            <a:off x="998525" y="4107485"/>
            <a:ext cx="380390" cy="380390"/>
          </a:xfrm>
          <a:prstGeom prst="rect">
            <a:avLst/>
          </a:prstGeom>
        </p:spPr>
      </p:pic>
      <p:sp>
        <p:nvSpPr>
          <p:cNvPr id="17" name="Text 11"/>
          <p:cNvSpPr txBox="1"/>
          <p:nvPr/>
        </p:nvSpPr>
        <p:spPr>
          <a:xfrm>
            <a:off x="1783080" y="3977640"/>
            <a:ext cx="402336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Parameters</a:t>
            </a:r>
            <a:endParaRPr lang="en-US" sz="2000" dirty="0"/>
          </a:p>
        </p:txBody>
      </p:sp>
      <p:sp>
        <p:nvSpPr>
          <p:cNvPr id="18" name="Text 12"/>
          <p:cNvSpPr txBox="1"/>
          <p:nvPr/>
        </p:nvSpPr>
        <p:spPr>
          <a:xfrm>
            <a:off x="868680" y="475488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Top Customers (default 5) and Profit Bin Size (default 200) let viewers control the detail.</a:t>
            </a:r>
            <a:endParaRPr lang="en-US" sz="1500" dirty="0"/>
          </a:p>
        </p:txBody>
      </p:sp>
      <p:sp>
        <p:nvSpPr>
          <p:cNvPr id="19" name="FeatureCard"/>
          <p:cNvSpPr/>
          <p:nvPr/>
        </p:nvSpPr>
        <p:spPr>
          <a:xfrm>
            <a:off x="6172200" y="3657600"/>
            <a:ext cx="5440680" cy="2103120"/>
          </a:xfrm>
          <a:prstGeom prst="roundRect">
            <a:avLst>
              <a:gd name="adj" fmla="val 4348"/>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IconCircle"/>
          <p:cNvSpPr/>
          <p:nvPr/>
        </p:nvSpPr>
        <p:spPr>
          <a:xfrm>
            <a:off x="6446520" y="3931920"/>
            <a:ext cx="731520" cy="731520"/>
          </a:xfrm>
          <a:prstGeom prst="ellipse">
            <a:avLst/>
          </a:prstGeom>
          <a:solidFill>
            <a:schemeClr val="accent2"/>
          </a:solidFill>
          <a:ln/>
        </p:spPr>
        <p:txBody>
          <a:bodyPr/>
          <a:lstStyle/>
          <a:p>
            <a:endParaRPr lang="en-US"/>
          </a:p>
        </p:txBody>
      </p:sp>
      <p:pic>
        <p:nvPicPr>
          <p:cNvPr id="21" name="Image 3" descr="icon"/>
          <p:cNvPicPr>
            <a:picLocks noChangeAspect="1"/>
          </p:cNvPicPr>
          <p:nvPr/>
        </p:nvPicPr>
        <p:blipFill>
          <a:blip r:embed="rId6"/>
          <a:stretch>
            <a:fillRect/>
          </a:stretch>
        </p:blipFill>
        <p:spPr>
          <a:xfrm>
            <a:off x="6622085" y="4107485"/>
            <a:ext cx="380390" cy="380390"/>
          </a:xfrm>
          <a:prstGeom prst="rect">
            <a:avLst/>
          </a:prstGeom>
        </p:spPr>
      </p:pic>
      <p:sp>
        <p:nvSpPr>
          <p:cNvPr id="22" name="Text 15"/>
          <p:cNvSpPr txBox="1"/>
          <p:nvPr/>
        </p:nvSpPr>
        <p:spPr>
          <a:xfrm>
            <a:off x="7406640" y="3977640"/>
            <a:ext cx="402336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Navigation</a:t>
            </a:r>
            <a:endParaRPr lang="en-US" sz="2000" dirty="0"/>
          </a:p>
        </p:txBody>
      </p:sp>
      <p:sp>
        <p:nvSpPr>
          <p:cNvPr id="23" name="Text 16"/>
          <p:cNvSpPr txBox="1"/>
          <p:nvPr/>
        </p:nvSpPr>
        <p:spPr>
          <a:xfrm>
            <a:off x="6492240" y="475488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 Home page with a card per analysis area, and ten dashboards fixed at 1400 x 900 so nothing scrolls.</a:t>
            </a:r>
            <a:endParaRPr lang="en-US" sz="1500" dirty="0"/>
          </a:p>
        </p:txBody>
      </p:sp>
      <p:sp>
        <p:nvSpPr>
          <p:cNvPr id="24" name="Text 17"/>
          <p:cNvSpPr txBox="1"/>
          <p:nvPr/>
        </p:nvSpPr>
        <p:spPr>
          <a:xfrm>
            <a:off x="548640" y="6035040"/>
            <a:ext cx="11064240" cy="320040"/>
          </a:xfrm>
          <a:prstGeom prst="rect">
            <a:avLst/>
          </a:prstGeom>
          <a:noFill/>
          <a:ln/>
        </p:spPr>
        <p:txBody>
          <a:bodyPr wrap="square" lIns="0" tIns="0" rIns="0" bIns="0" rtlCol="0" anchor="t"/>
          <a:lstStyle/>
          <a:p>
            <a:pPr marL="0" indent="0">
              <a:buNone/>
            </a:pPr>
            <a:r>
              <a:rPr lang="en-US" sz="1300" i="1" dirty="0">
                <a:solidFill>
                  <a:srgbClr val="000000"/>
                </a:solidFill>
                <a:latin typeface="Calibri" pitchFamily="34" charset="0"/>
                <a:ea typeface="Calibri" pitchFamily="34" charset="-122"/>
                <a:cs typeface="Calibri" pitchFamily="34" charset="-120"/>
              </a:rPr>
              <a:t>Why it matters: one shared data source means the same filter gives the same answer on every dashboard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Key business insights: six things the data told us</a:t>
            </a:r>
            <a:endParaRPr lang="en-US" sz="3000" dirty="0"/>
          </a:p>
        </p:txBody>
      </p:sp>
      <p:sp>
        <p:nvSpPr>
          <p:cNvPr id="4" name="InsightCard"/>
          <p:cNvSpPr/>
          <p:nvPr/>
        </p:nvSpPr>
        <p:spPr>
          <a:xfrm>
            <a:off x="548640" y="137160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Text 2"/>
          <p:cNvSpPr txBox="1"/>
          <p:nvPr/>
        </p:nvSpPr>
        <p:spPr>
          <a:xfrm>
            <a:off x="777240" y="1600200"/>
            <a:ext cx="31089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7.92%</a:t>
            </a:r>
            <a:endParaRPr lang="en-US" sz="3800" dirty="0"/>
          </a:p>
        </p:txBody>
      </p:sp>
      <p:sp>
        <p:nvSpPr>
          <p:cNvPr id="6" name="Text 3"/>
          <p:cNvSpPr txBox="1"/>
          <p:nvPr/>
        </p:nvSpPr>
        <p:spPr>
          <a:xfrm>
            <a:off x="777240" y="251460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Thin margin</a:t>
            </a:r>
            <a:endParaRPr lang="en-US" sz="1600" dirty="0"/>
          </a:p>
        </p:txBody>
      </p:sp>
      <p:sp>
        <p:nvSpPr>
          <p:cNvPr id="7" name="Text 4"/>
          <p:cNvSpPr txBox="1"/>
          <p:nvPr/>
        </p:nvSpPr>
        <p:spPr>
          <a:xfrm>
            <a:off x="777240" y="297180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$39.7K profit on $501K of sales</a:t>
            </a:r>
            <a:endParaRPr lang="en-US" sz="1300" dirty="0"/>
          </a:p>
        </p:txBody>
      </p:sp>
      <p:sp>
        <p:nvSpPr>
          <p:cNvPr id="8" name="InsightCard"/>
          <p:cNvSpPr/>
          <p:nvPr/>
        </p:nvSpPr>
        <p:spPr>
          <a:xfrm>
            <a:off x="4297680" y="137160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9" name="Text 6"/>
          <p:cNvSpPr txBox="1"/>
          <p:nvPr/>
        </p:nvSpPr>
        <p:spPr>
          <a:xfrm>
            <a:off x="4526280" y="1600200"/>
            <a:ext cx="31089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84.9%</a:t>
            </a:r>
            <a:endParaRPr lang="en-US" sz="3800" dirty="0"/>
          </a:p>
        </p:txBody>
      </p:sp>
      <p:sp>
        <p:nvSpPr>
          <p:cNvPr id="10" name="Text 7"/>
          <p:cNvSpPr txBox="1"/>
          <p:nvPr/>
        </p:nvSpPr>
        <p:spPr>
          <a:xfrm>
            <a:off x="4526280" y="251460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Technology share of profit</a:t>
            </a:r>
            <a:endParaRPr lang="en-US" sz="1600" dirty="0"/>
          </a:p>
        </p:txBody>
      </p:sp>
      <p:sp>
        <p:nvSpPr>
          <p:cNvPr id="11" name="Text 8"/>
          <p:cNvSpPr txBox="1"/>
          <p:nvPr/>
        </p:nvSpPr>
        <p:spPr>
          <a:xfrm>
            <a:off x="4526280" y="297180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Furniture lost $2.9K</a:t>
            </a:r>
            <a:endParaRPr lang="en-US" sz="1300" dirty="0"/>
          </a:p>
        </p:txBody>
      </p:sp>
      <p:sp>
        <p:nvSpPr>
          <p:cNvPr id="12" name="InsightCard"/>
          <p:cNvSpPr/>
          <p:nvPr/>
        </p:nvSpPr>
        <p:spPr>
          <a:xfrm>
            <a:off x="8046720" y="137160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3" name="Text 10"/>
          <p:cNvSpPr txBox="1"/>
          <p:nvPr/>
        </p:nvSpPr>
        <p:spPr>
          <a:xfrm>
            <a:off x="8275320" y="1600200"/>
            <a:ext cx="3108960" cy="868680"/>
          </a:xfrm>
          <a:prstGeom prst="rect">
            <a:avLst/>
          </a:prstGeom>
          <a:noFill/>
          <a:ln/>
        </p:spPr>
        <p:txBody>
          <a:bodyPr wrap="square" lIns="0" tIns="0" rIns="0" bIns="0" rtlCol="0" anchor="ctr"/>
          <a:lstStyle/>
          <a:p>
            <a:pPr marL="0" indent="0">
              <a:buNone/>
            </a:pPr>
            <a:r>
              <a:rPr lang="en-US" sz="3800" b="1" dirty="0">
                <a:solidFill>
                  <a:schemeClr val="accent2"/>
                </a:solidFill>
                <a:latin typeface="Cambria" pitchFamily="34" charset="0"/>
                <a:ea typeface="Cambria" pitchFamily="34" charset="-122"/>
                <a:cs typeface="Cambria" pitchFamily="34" charset="-120"/>
              </a:rPr>
              <a:t>-$40.8K</a:t>
            </a:r>
            <a:endParaRPr lang="en-US" sz="3800" dirty="0"/>
          </a:p>
        </p:txBody>
      </p:sp>
      <p:sp>
        <p:nvSpPr>
          <p:cNvPr id="14" name="Text 11"/>
          <p:cNvSpPr txBox="1"/>
          <p:nvPr/>
        </p:nvSpPr>
        <p:spPr>
          <a:xfrm>
            <a:off x="8275320" y="251460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Lines with over 40% discount</a:t>
            </a:r>
            <a:endParaRPr lang="en-US" sz="1600" dirty="0"/>
          </a:p>
        </p:txBody>
      </p:sp>
      <p:sp>
        <p:nvSpPr>
          <p:cNvPr id="15" name="Text 12"/>
          <p:cNvSpPr txBox="1"/>
          <p:nvPr/>
        </p:nvSpPr>
        <p:spPr>
          <a:xfrm>
            <a:off x="8275320" y="297180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versus +$76.1K with no discount</a:t>
            </a:r>
            <a:endParaRPr lang="en-US" sz="1300" dirty="0"/>
          </a:p>
        </p:txBody>
      </p:sp>
      <p:sp>
        <p:nvSpPr>
          <p:cNvPr id="16" name="InsightCard"/>
          <p:cNvSpPr/>
          <p:nvPr/>
        </p:nvSpPr>
        <p:spPr>
          <a:xfrm>
            <a:off x="548640" y="384048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7" name="Text 14"/>
          <p:cNvSpPr txBox="1"/>
          <p:nvPr/>
        </p:nvSpPr>
        <p:spPr>
          <a:xfrm>
            <a:off x="777240" y="4069080"/>
            <a:ext cx="3108960" cy="868680"/>
          </a:xfrm>
          <a:prstGeom prst="rect">
            <a:avLst/>
          </a:prstGeom>
          <a:noFill/>
          <a:ln/>
        </p:spPr>
        <p:txBody>
          <a:bodyPr wrap="square" lIns="0" tIns="0" rIns="0" bIns="0" rtlCol="0" anchor="ctr"/>
          <a:lstStyle/>
          <a:p>
            <a:pPr marL="0" indent="0">
              <a:buNone/>
            </a:pPr>
            <a:r>
              <a:rPr lang="en-US" sz="3800" b="1" dirty="0">
                <a:solidFill>
                  <a:schemeClr val="accent2"/>
                </a:solidFill>
                <a:latin typeface="Cambria" pitchFamily="34" charset="0"/>
                <a:ea typeface="Cambria" pitchFamily="34" charset="-122"/>
                <a:cs typeface="Cambria" pitchFamily="34" charset="-120"/>
              </a:rPr>
              <a:t>-$38.3K</a:t>
            </a:r>
            <a:endParaRPr lang="en-US" sz="3800" dirty="0"/>
          </a:p>
        </p:txBody>
      </p:sp>
      <p:sp>
        <p:nvSpPr>
          <p:cNvPr id="18" name="Text 15"/>
          <p:cNvSpPr txBox="1"/>
          <p:nvPr/>
        </p:nvSpPr>
        <p:spPr>
          <a:xfrm>
            <a:off x="777240" y="498348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Texas and Illinois combined</a:t>
            </a:r>
            <a:endParaRPr lang="en-US" sz="1600" dirty="0"/>
          </a:p>
        </p:txBody>
      </p:sp>
      <p:sp>
        <p:nvSpPr>
          <p:cNvPr id="19" name="Text 16"/>
          <p:cNvSpPr txBox="1"/>
          <p:nvPr/>
        </p:nvSpPr>
        <p:spPr>
          <a:xfrm>
            <a:off x="777240" y="544068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on $250K of sales</a:t>
            </a:r>
            <a:endParaRPr lang="en-US" sz="1300" dirty="0"/>
          </a:p>
        </p:txBody>
      </p:sp>
      <p:sp>
        <p:nvSpPr>
          <p:cNvPr id="20" name="InsightCard"/>
          <p:cNvSpPr/>
          <p:nvPr/>
        </p:nvSpPr>
        <p:spPr>
          <a:xfrm>
            <a:off x="4297680" y="384048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1" name="Text 18"/>
          <p:cNvSpPr txBox="1"/>
          <p:nvPr/>
        </p:nvSpPr>
        <p:spPr>
          <a:xfrm>
            <a:off x="4526280" y="4069080"/>
            <a:ext cx="3108960" cy="868680"/>
          </a:xfrm>
          <a:prstGeom prst="rect">
            <a:avLst/>
          </a:prstGeom>
          <a:noFill/>
          <a:ln/>
        </p:spPr>
        <p:txBody>
          <a:bodyPr wrap="square" lIns="0" tIns="0" rIns="0" bIns="0" rtlCol="0" anchor="ctr"/>
          <a:lstStyle/>
          <a:p>
            <a:pPr marL="0" indent="0">
              <a:buNone/>
            </a:pPr>
            <a:r>
              <a:rPr lang="en-US" sz="3800" b="1" dirty="0">
                <a:solidFill>
                  <a:schemeClr val="accent2"/>
                </a:solidFill>
                <a:latin typeface="Cambria" pitchFamily="34" charset="0"/>
                <a:ea typeface="Cambria" pitchFamily="34" charset="-122"/>
                <a:cs typeface="Cambria" pitchFamily="34" charset="-120"/>
              </a:rPr>
              <a:t>-62%</a:t>
            </a:r>
            <a:endParaRPr lang="en-US" sz="3800" dirty="0"/>
          </a:p>
        </p:txBody>
      </p:sp>
      <p:sp>
        <p:nvSpPr>
          <p:cNvPr id="22" name="Text 19"/>
          <p:cNvSpPr txBox="1"/>
          <p:nvPr/>
        </p:nvSpPr>
        <p:spPr>
          <a:xfrm>
            <a:off x="4526280" y="498348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2016 profit vs 2015</a:t>
            </a:r>
            <a:endParaRPr lang="en-US" sz="1600" dirty="0"/>
          </a:p>
        </p:txBody>
      </p:sp>
      <p:sp>
        <p:nvSpPr>
          <p:cNvPr id="23" name="Text 20"/>
          <p:cNvSpPr txBox="1"/>
          <p:nvPr/>
        </p:nvSpPr>
        <p:spPr>
          <a:xfrm>
            <a:off x="4526280" y="544068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while orders rose 33% (305 to 406)</a:t>
            </a:r>
            <a:endParaRPr lang="en-US" sz="1300" dirty="0"/>
          </a:p>
        </p:txBody>
      </p:sp>
      <p:sp>
        <p:nvSpPr>
          <p:cNvPr id="24" name="InsightCard"/>
          <p:cNvSpPr/>
          <p:nvPr/>
        </p:nvSpPr>
        <p:spPr>
          <a:xfrm>
            <a:off x="8046720" y="3840480"/>
            <a:ext cx="3566160" cy="2286000"/>
          </a:xfrm>
          <a:prstGeom prst="roundRect">
            <a:avLst>
              <a:gd name="adj" fmla="val 4000"/>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5" name="Text 22"/>
          <p:cNvSpPr txBox="1"/>
          <p:nvPr/>
        </p:nvSpPr>
        <p:spPr>
          <a:xfrm>
            <a:off x="8275320" y="4069080"/>
            <a:ext cx="3108960" cy="86868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53%</a:t>
            </a:r>
            <a:endParaRPr lang="en-US" sz="3800" dirty="0"/>
          </a:p>
        </p:txBody>
      </p:sp>
      <p:sp>
        <p:nvSpPr>
          <p:cNvPr id="26" name="Text 23"/>
          <p:cNvSpPr txBox="1"/>
          <p:nvPr/>
        </p:nvSpPr>
        <p:spPr>
          <a:xfrm>
            <a:off x="8275320" y="4983480"/>
            <a:ext cx="3108960" cy="45720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Sales from Sep to Dec</a:t>
            </a:r>
            <a:endParaRPr lang="en-US" sz="1600" dirty="0"/>
          </a:p>
        </p:txBody>
      </p:sp>
      <p:sp>
        <p:nvSpPr>
          <p:cNvPr id="27" name="Text 24"/>
          <p:cNvSpPr txBox="1"/>
          <p:nvPr/>
        </p:nvSpPr>
        <p:spPr>
          <a:xfrm>
            <a:off x="8275320" y="5440680"/>
            <a:ext cx="3108960" cy="548640"/>
          </a:xfrm>
          <a:prstGeom prst="rect">
            <a:avLst/>
          </a:prstGeom>
          <a:noFill/>
          <a:ln/>
        </p:spPr>
        <p:txBody>
          <a:bodyPr wrap="square" lIns="0" tIns="0" rIns="0" bIns="0" rtlCol="0" anchor="t"/>
          <a:lstStyle/>
          <a:p>
            <a:pPr marL="0" indent="0">
              <a:buNone/>
            </a:pPr>
            <a:r>
              <a:rPr lang="en-US" sz="1300" dirty="0">
                <a:solidFill>
                  <a:srgbClr val="000000"/>
                </a:solidFill>
                <a:latin typeface="Calibri" pitchFamily="34" charset="0"/>
                <a:ea typeface="Calibri" pitchFamily="34" charset="-122"/>
                <a:cs typeface="Calibri" pitchFamily="34" charset="-120"/>
              </a:rPr>
              <a:t>Q4 is the season that matters</a:t>
            </a:r>
            <a:endParaRPr lang="en-US" sz="13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Our recommendations: from findings to actions</a:t>
            </a:r>
            <a:endParaRPr lang="en-US" sz="3000" dirty="0"/>
          </a:p>
        </p:txBody>
      </p:sp>
      <p:sp>
        <p:nvSpPr>
          <p:cNvPr id="4" name="Text 1"/>
          <p:cNvSpPr txBox="1"/>
          <p:nvPr/>
        </p:nvSpPr>
        <p:spPr>
          <a:xfrm>
            <a:off x="2331720" y="1280160"/>
            <a:ext cx="4206240" cy="274320"/>
          </a:xfrm>
          <a:prstGeom prst="rect">
            <a:avLst/>
          </a:prstGeom>
          <a:noFill/>
          <a:ln/>
        </p:spPr>
        <p:txBody>
          <a:bodyPr wrap="square" lIns="0" tIns="0" rIns="0" bIns="0" rtlCol="0" anchor="t"/>
          <a:lstStyle/>
          <a:p>
            <a:pPr marL="0" indent="0">
              <a:buNone/>
            </a:pPr>
            <a:r>
              <a:rPr lang="en-US" sz="1200" b="1" kern="0" spc="200" dirty="0">
                <a:solidFill>
                  <a:schemeClr val="accent6"/>
                </a:solidFill>
                <a:latin typeface="Calibri" pitchFamily="34" charset="0"/>
                <a:ea typeface="Calibri" pitchFamily="34" charset="-122"/>
                <a:cs typeface="Calibri" pitchFamily="34" charset="-120"/>
              </a:rPr>
              <a:t>WE NOTICED</a:t>
            </a:r>
            <a:endParaRPr lang="en-US" sz="1200" dirty="0"/>
          </a:p>
        </p:txBody>
      </p:sp>
      <p:sp>
        <p:nvSpPr>
          <p:cNvPr id="5" name="Text 2"/>
          <p:cNvSpPr txBox="1"/>
          <p:nvPr/>
        </p:nvSpPr>
        <p:spPr>
          <a:xfrm>
            <a:off x="6903720" y="1280160"/>
            <a:ext cx="4572000" cy="274320"/>
          </a:xfrm>
          <a:prstGeom prst="rect">
            <a:avLst/>
          </a:prstGeom>
          <a:noFill/>
          <a:ln/>
        </p:spPr>
        <p:txBody>
          <a:bodyPr wrap="square" lIns="0" tIns="0" rIns="0" bIns="0" rtlCol="0" anchor="t"/>
          <a:lstStyle/>
          <a:p>
            <a:pPr marL="0" indent="0">
              <a:buNone/>
            </a:pPr>
            <a:r>
              <a:rPr lang="en-US" sz="1200" b="1" kern="0" spc="200" dirty="0">
                <a:solidFill>
                  <a:schemeClr val="accent6"/>
                </a:solidFill>
                <a:latin typeface="Calibri" pitchFamily="34" charset="0"/>
                <a:ea typeface="Calibri" pitchFamily="34" charset="-122"/>
                <a:cs typeface="Calibri" pitchFamily="34" charset="-120"/>
              </a:rPr>
              <a:t>SO WE WOULD</a:t>
            </a:r>
            <a:endParaRPr lang="en-US" sz="1200" dirty="0"/>
          </a:p>
        </p:txBody>
      </p:sp>
      <p:sp>
        <p:nvSpPr>
          <p:cNvPr id="6" name="RecCard"/>
          <p:cNvSpPr/>
          <p:nvPr/>
        </p:nvSpPr>
        <p:spPr>
          <a:xfrm>
            <a:off x="548640" y="1600200"/>
            <a:ext cx="11064240" cy="822960"/>
          </a:xfrm>
          <a:prstGeom prst="roundRect">
            <a:avLst>
              <a:gd name="adj" fmla="val 11111"/>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7" name="RecTag"/>
          <p:cNvSpPr/>
          <p:nvPr/>
        </p:nvSpPr>
        <p:spPr>
          <a:xfrm>
            <a:off x="685800" y="1737360"/>
            <a:ext cx="1554480" cy="548640"/>
          </a:xfrm>
          <a:prstGeom prst="roundRect">
            <a:avLst>
              <a:gd name="adj" fmla="val 16667"/>
            </a:avLst>
          </a:prstGeom>
          <a:solidFill>
            <a:schemeClr val="accent2"/>
          </a:solidFill>
          <a:ln/>
        </p:spPr>
        <p:txBody>
          <a:bodyPr/>
          <a:lstStyle/>
          <a:p>
            <a:endParaRPr lang="en-US"/>
          </a:p>
        </p:txBody>
      </p:sp>
      <p:sp>
        <p:nvSpPr>
          <p:cNvPr id="8" name="Text 5"/>
          <p:cNvSpPr txBox="1"/>
          <p:nvPr/>
        </p:nvSpPr>
        <p:spPr>
          <a:xfrm>
            <a:off x="685800" y="1737360"/>
            <a:ext cx="1554480" cy="54864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Discounts</a:t>
            </a:r>
            <a:endParaRPr lang="en-US" sz="1250" dirty="0"/>
          </a:p>
        </p:txBody>
      </p:sp>
      <p:sp>
        <p:nvSpPr>
          <p:cNvPr id="9" name="Text 6"/>
          <p:cNvSpPr txBox="1"/>
          <p:nvPr/>
        </p:nvSpPr>
        <p:spPr>
          <a:xfrm>
            <a:off x="2377440" y="1600200"/>
            <a:ext cx="4297680" cy="822960"/>
          </a:xfrm>
          <a:prstGeom prst="rect">
            <a:avLst/>
          </a:prstGeom>
          <a:noFill/>
          <a:ln/>
        </p:spPr>
        <p:txBody>
          <a:bodyPr wrap="square" lIns="0" tIns="0" rIns="0" bIns="0" rtlCol="0" anchor="ctr"/>
          <a:lstStyle/>
          <a:p>
            <a:pPr marL="0" indent="0">
              <a:buNone/>
            </a:pPr>
            <a:r>
              <a:rPr lang="en-US" sz="1350" dirty="0">
                <a:solidFill>
                  <a:schemeClr val="tx1"/>
                </a:solidFill>
                <a:latin typeface="Calibri" pitchFamily="34" charset="0"/>
                <a:ea typeface="Calibri" pitchFamily="34" charset="-122"/>
                <a:cs typeface="Calibri" pitchFamily="34" charset="-120"/>
              </a:rPr>
              <a:t>Over 40% discount lines lost $40.8K</a:t>
            </a:r>
            <a:endParaRPr lang="en-US" sz="1350" dirty="0"/>
          </a:p>
        </p:txBody>
      </p:sp>
      <p:sp>
        <p:nvSpPr>
          <p:cNvPr id="10" name="RecArrow"/>
          <p:cNvSpPr/>
          <p:nvPr/>
        </p:nvSpPr>
        <p:spPr>
          <a:xfrm>
            <a:off x="6583680" y="1874520"/>
            <a:ext cx="274320" cy="274320"/>
          </a:xfrm>
          <a:prstGeom prst="rightArrow">
            <a:avLst/>
          </a:prstGeom>
          <a:solidFill>
            <a:schemeClr val="accent3"/>
          </a:solidFill>
          <a:ln/>
        </p:spPr>
        <p:txBody>
          <a:bodyPr/>
          <a:lstStyle/>
          <a:p>
            <a:endParaRPr lang="en-US"/>
          </a:p>
        </p:txBody>
      </p:sp>
      <p:sp>
        <p:nvSpPr>
          <p:cNvPr id="11" name="Text 8"/>
          <p:cNvSpPr txBox="1"/>
          <p:nvPr/>
        </p:nvSpPr>
        <p:spPr>
          <a:xfrm>
            <a:off x="6949440" y="1600200"/>
            <a:ext cx="4572000" cy="822960"/>
          </a:xfrm>
          <a:prstGeom prst="rect">
            <a:avLst/>
          </a:prstGeom>
          <a:noFill/>
          <a:ln/>
        </p:spPr>
        <p:txBody>
          <a:bodyPr wrap="square" lIns="0" tIns="0" rIns="0" bIns="0" rtlCol="0" anchor="ctr"/>
          <a:lstStyle/>
          <a:p>
            <a:pPr marL="0" indent="0">
              <a:buNone/>
            </a:pPr>
            <a:r>
              <a:rPr lang="en-US" sz="1350" b="1" dirty="0">
                <a:solidFill>
                  <a:schemeClr val="tx2"/>
                </a:solidFill>
                <a:latin typeface="Calibri" pitchFamily="34" charset="0"/>
                <a:ea typeface="Calibri" pitchFamily="34" charset="-122"/>
                <a:cs typeface="Calibri" pitchFamily="34" charset="-120"/>
              </a:rPr>
              <a:t>Review and cap deep discounts, and test the effect on volume</a:t>
            </a:r>
            <a:endParaRPr lang="en-US" sz="1350" dirty="0"/>
          </a:p>
        </p:txBody>
      </p:sp>
      <p:sp>
        <p:nvSpPr>
          <p:cNvPr id="12" name="RecCard"/>
          <p:cNvSpPr/>
          <p:nvPr/>
        </p:nvSpPr>
        <p:spPr>
          <a:xfrm>
            <a:off x="548640" y="2532888"/>
            <a:ext cx="11064240" cy="822960"/>
          </a:xfrm>
          <a:prstGeom prst="roundRect">
            <a:avLst>
              <a:gd name="adj" fmla="val 11111"/>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3" name="RecTag"/>
          <p:cNvSpPr/>
          <p:nvPr/>
        </p:nvSpPr>
        <p:spPr>
          <a:xfrm>
            <a:off x="685800" y="2670048"/>
            <a:ext cx="1554480" cy="548640"/>
          </a:xfrm>
          <a:prstGeom prst="roundRect">
            <a:avLst>
              <a:gd name="adj" fmla="val 16667"/>
            </a:avLst>
          </a:prstGeom>
          <a:solidFill>
            <a:schemeClr val="accent2"/>
          </a:solidFill>
          <a:ln/>
        </p:spPr>
        <p:txBody>
          <a:bodyPr/>
          <a:lstStyle/>
          <a:p>
            <a:endParaRPr lang="en-US"/>
          </a:p>
        </p:txBody>
      </p:sp>
      <p:sp>
        <p:nvSpPr>
          <p:cNvPr id="14" name="Text 11"/>
          <p:cNvSpPr txBox="1"/>
          <p:nvPr/>
        </p:nvSpPr>
        <p:spPr>
          <a:xfrm>
            <a:off x="685800" y="2670048"/>
            <a:ext cx="1554480" cy="54864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Texas and Illinois</a:t>
            </a:r>
            <a:endParaRPr lang="en-US" sz="1250" dirty="0"/>
          </a:p>
        </p:txBody>
      </p:sp>
      <p:sp>
        <p:nvSpPr>
          <p:cNvPr id="15" name="Text 12"/>
          <p:cNvSpPr txBox="1"/>
          <p:nvPr/>
        </p:nvSpPr>
        <p:spPr>
          <a:xfrm>
            <a:off x="2377440" y="2532888"/>
            <a:ext cx="4297680" cy="822960"/>
          </a:xfrm>
          <a:prstGeom prst="rect">
            <a:avLst/>
          </a:prstGeom>
          <a:noFill/>
          <a:ln/>
        </p:spPr>
        <p:txBody>
          <a:bodyPr wrap="square" lIns="0" tIns="0" rIns="0" bIns="0" rtlCol="0" anchor="ctr"/>
          <a:lstStyle/>
          <a:p>
            <a:pPr marL="0" indent="0">
              <a:buNone/>
            </a:pPr>
            <a:r>
              <a:rPr lang="en-US" sz="1350" dirty="0">
                <a:solidFill>
                  <a:schemeClr val="tx1"/>
                </a:solidFill>
                <a:latin typeface="Calibri" pitchFamily="34" charset="0"/>
                <a:ea typeface="Calibri" pitchFamily="34" charset="-122"/>
                <a:cs typeface="Calibri" pitchFamily="34" charset="-120"/>
              </a:rPr>
              <a:t>$250K of sales, $38.3K lost</a:t>
            </a:r>
            <a:endParaRPr lang="en-US" sz="1350" dirty="0"/>
          </a:p>
        </p:txBody>
      </p:sp>
      <p:sp>
        <p:nvSpPr>
          <p:cNvPr id="16" name="RecArrow"/>
          <p:cNvSpPr/>
          <p:nvPr/>
        </p:nvSpPr>
        <p:spPr>
          <a:xfrm>
            <a:off x="6583680" y="2807208"/>
            <a:ext cx="274320" cy="274320"/>
          </a:xfrm>
          <a:prstGeom prst="rightArrow">
            <a:avLst/>
          </a:prstGeom>
          <a:solidFill>
            <a:schemeClr val="accent3"/>
          </a:solidFill>
          <a:ln/>
        </p:spPr>
        <p:txBody>
          <a:bodyPr/>
          <a:lstStyle/>
          <a:p>
            <a:endParaRPr lang="en-US"/>
          </a:p>
        </p:txBody>
      </p:sp>
      <p:sp>
        <p:nvSpPr>
          <p:cNvPr id="17" name="Text 14"/>
          <p:cNvSpPr txBox="1"/>
          <p:nvPr/>
        </p:nvSpPr>
        <p:spPr>
          <a:xfrm>
            <a:off x="6949440" y="2532888"/>
            <a:ext cx="4572000" cy="822960"/>
          </a:xfrm>
          <a:prstGeom prst="rect">
            <a:avLst/>
          </a:prstGeom>
          <a:noFill/>
          <a:ln/>
        </p:spPr>
        <p:txBody>
          <a:bodyPr wrap="square" lIns="0" tIns="0" rIns="0" bIns="0" rtlCol="0" anchor="ctr"/>
          <a:lstStyle/>
          <a:p>
            <a:pPr marL="0" indent="0">
              <a:buNone/>
            </a:pPr>
            <a:r>
              <a:rPr lang="en-US" sz="1350" b="1" dirty="0">
                <a:solidFill>
                  <a:schemeClr val="tx2"/>
                </a:solidFill>
                <a:latin typeface="Calibri" pitchFamily="34" charset="0"/>
                <a:ea typeface="Calibri" pitchFamily="34" charset="-122"/>
                <a:cs typeface="Calibri" pitchFamily="34" charset="-120"/>
              </a:rPr>
              <a:t>Check discount levels and pricing in these states first</a:t>
            </a:r>
            <a:endParaRPr lang="en-US" sz="1350" dirty="0"/>
          </a:p>
        </p:txBody>
      </p:sp>
      <p:sp>
        <p:nvSpPr>
          <p:cNvPr id="18" name="RecCard"/>
          <p:cNvSpPr/>
          <p:nvPr/>
        </p:nvSpPr>
        <p:spPr>
          <a:xfrm>
            <a:off x="548640" y="3465576"/>
            <a:ext cx="11064240" cy="822960"/>
          </a:xfrm>
          <a:prstGeom prst="roundRect">
            <a:avLst>
              <a:gd name="adj" fmla="val 11111"/>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9" name="RecTag"/>
          <p:cNvSpPr/>
          <p:nvPr/>
        </p:nvSpPr>
        <p:spPr>
          <a:xfrm>
            <a:off x="685800" y="3602736"/>
            <a:ext cx="1554480" cy="548640"/>
          </a:xfrm>
          <a:prstGeom prst="roundRect">
            <a:avLst>
              <a:gd name="adj" fmla="val 16667"/>
            </a:avLst>
          </a:prstGeom>
          <a:solidFill>
            <a:schemeClr val="accent2"/>
          </a:solidFill>
          <a:ln/>
        </p:spPr>
        <p:txBody>
          <a:bodyPr/>
          <a:lstStyle/>
          <a:p>
            <a:endParaRPr lang="en-US"/>
          </a:p>
        </p:txBody>
      </p:sp>
      <p:sp>
        <p:nvSpPr>
          <p:cNvPr id="20" name="Text 17"/>
          <p:cNvSpPr txBox="1"/>
          <p:nvPr/>
        </p:nvSpPr>
        <p:spPr>
          <a:xfrm>
            <a:off x="685800" y="3602736"/>
            <a:ext cx="1554480" cy="54864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Furniture and weak lines</a:t>
            </a:r>
            <a:endParaRPr lang="en-US" sz="1250" dirty="0"/>
          </a:p>
        </p:txBody>
      </p:sp>
      <p:sp>
        <p:nvSpPr>
          <p:cNvPr id="21" name="Text 18"/>
          <p:cNvSpPr txBox="1"/>
          <p:nvPr/>
        </p:nvSpPr>
        <p:spPr>
          <a:xfrm>
            <a:off x="2377440" y="3465576"/>
            <a:ext cx="4297680" cy="822960"/>
          </a:xfrm>
          <a:prstGeom prst="rect">
            <a:avLst/>
          </a:prstGeom>
          <a:noFill/>
          <a:ln/>
        </p:spPr>
        <p:txBody>
          <a:bodyPr wrap="square" lIns="0" tIns="0" rIns="0" bIns="0" rtlCol="0" anchor="ctr"/>
          <a:lstStyle/>
          <a:p>
            <a:pPr marL="0" indent="0">
              <a:buNone/>
            </a:pPr>
            <a:r>
              <a:rPr lang="en-US" sz="1350" dirty="0">
                <a:solidFill>
                  <a:schemeClr val="tx1"/>
                </a:solidFill>
                <a:latin typeface="Calibri" pitchFamily="34" charset="0"/>
                <a:ea typeface="Calibri" pitchFamily="34" charset="-122"/>
                <a:cs typeface="Calibri" pitchFamily="34" charset="-120"/>
              </a:rPr>
              <a:t>Furniture, tables, bookcases and binders all lose money</a:t>
            </a:r>
            <a:endParaRPr lang="en-US" sz="1350" dirty="0"/>
          </a:p>
        </p:txBody>
      </p:sp>
      <p:sp>
        <p:nvSpPr>
          <p:cNvPr id="22" name="RecArrow"/>
          <p:cNvSpPr/>
          <p:nvPr/>
        </p:nvSpPr>
        <p:spPr>
          <a:xfrm>
            <a:off x="6583680" y="3739896"/>
            <a:ext cx="274320" cy="274320"/>
          </a:xfrm>
          <a:prstGeom prst="rightArrow">
            <a:avLst/>
          </a:prstGeom>
          <a:solidFill>
            <a:schemeClr val="accent3"/>
          </a:solidFill>
          <a:ln/>
        </p:spPr>
        <p:txBody>
          <a:bodyPr/>
          <a:lstStyle/>
          <a:p>
            <a:endParaRPr lang="en-US"/>
          </a:p>
        </p:txBody>
      </p:sp>
      <p:sp>
        <p:nvSpPr>
          <p:cNvPr id="23" name="Text 20"/>
          <p:cNvSpPr txBox="1"/>
          <p:nvPr/>
        </p:nvSpPr>
        <p:spPr>
          <a:xfrm>
            <a:off x="6949440" y="3465576"/>
            <a:ext cx="4572000" cy="822960"/>
          </a:xfrm>
          <a:prstGeom prst="rect">
            <a:avLst/>
          </a:prstGeom>
          <a:noFill/>
          <a:ln/>
        </p:spPr>
        <p:txBody>
          <a:bodyPr wrap="square" lIns="0" tIns="0" rIns="0" bIns="0" rtlCol="0" anchor="ctr"/>
          <a:lstStyle/>
          <a:p>
            <a:pPr marL="0" indent="0">
              <a:buNone/>
            </a:pPr>
            <a:r>
              <a:rPr lang="en-US" sz="1350" b="1" dirty="0">
                <a:solidFill>
                  <a:schemeClr val="tx2"/>
                </a:solidFill>
                <a:latin typeface="Calibri" pitchFamily="34" charset="0"/>
                <a:ea typeface="Calibri" pitchFamily="34" charset="-122"/>
                <a:cs typeface="Calibri" pitchFamily="34" charset="-120"/>
              </a:rPr>
              <a:t>Rework pricing or sourcing, or reduce what does not earn</a:t>
            </a:r>
            <a:endParaRPr lang="en-US" sz="1350" dirty="0"/>
          </a:p>
        </p:txBody>
      </p:sp>
      <p:sp>
        <p:nvSpPr>
          <p:cNvPr id="24" name="RecCard"/>
          <p:cNvSpPr/>
          <p:nvPr/>
        </p:nvSpPr>
        <p:spPr>
          <a:xfrm>
            <a:off x="548640" y="4398264"/>
            <a:ext cx="11064240" cy="822960"/>
          </a:xfrm>
          <a:prstGeom prst="roundRect">
            <a:avLst>
              <a:gd name="adj" fmla="val 11111"/>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5" name="RecTag"/>
          <p:cNvSpPr/>
          <p:nvPr/>
        </p:nvSpPr>
        <p:spPr>
          <a:xfrm>
            <a:off x="685800" y="4535424"/>
            <a:ext cx="1554480" cy="548640"/>
          </a:xfrm>
          <a:prstGeom prst="roundRect">
            <a:avLst>
              <a:gd name="adj" fmla="val 16667"/>
            </a:avLst>
          </a:prstGeom>
          <a:solidFill>
            <a:schemeClr val="accent4"/>
          </a:solidFill>
          <a:ln/>
        </p:spPr>
        <p:txBody>
          <a:bodyPr/>
          <a:lstStyle/>
          <a:p>
            <a:endParaRPr lang="en-US"/>
          </a:p>
        </p:txBody>
      </p:sp>
      <p:sp>
        <p:nvSpPr>
          <p:cNvPr id="26" name="Text 23"/>
          <p:cNvSpPr txBox="1"/>
          <p:nvPr/>
        </p:nvSpPr>
        <p:spPr>
          <a:xfrm>
            <a:off x="685800" y="4535424"/>
            <a:ext cx="1554480" cy="54864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Grow what earns</a:t>
            </a:r>
            <a:endParaRPr lang="en-US" sz="1250" dirty="0"/>
          </a:p>
        </p:txBody>
      </p:sp>
      <p:sp>
        <p:nvSpPr>
          <p:cNvPr id="27" name="Text 24"/>
          <p:cNvSpPr txBox="1"/>
          <p:nvPr/>
        </p:nvSpPr>
        <p:spPr>
          <a:xfrm>
            <a:off x="2377440" y="4398264"/>
            <a:ext cx="4297680" cy="822960"/>
          </a:xfrm>
          <a:prstGeom prst="rect">
            <a:avLst/>
          </a:prstGeom>
          <a:noFill/>
          <a:ln/>
        </p:spPr>
        <p:txBody>
          <a:bodyPr wrap="square" lIns="0" tIns="0" rIns="0" bIns="0" rtlCol="0" anchor="ctr"/>
          <a:lstStyle/>
          <a:p>
            <a:pPr marL="0" indent="0">
              <a:buNone/>
            </a:pPr>
            <a:r>
              <a:rPr lang="en-US" sz="1350" dirty="0">
                <a:solidFill>
                  <a:schemeClr val="tx1"/>
                </a:solidFill>
                <a:latin typeface="Calibri" pitchFamily="34" charset="0"/>
                <a:ea typeface="Calibri" pitchFamily="34" charset="-122"/>
                <a:cs typeface="Calibri" pitchFamily="34" charset="-120"/>
              </a:rPr>
              <a:t>Copiers and phones made $28K; Corporate margin 11.8% vs Consumer 3.4%</a:t>
            </a:r>
            <a:endParaRPr lang="en-US" sz="1350" dirty="0"/>
          </a:p>
        </p:txBody>
      </p:sp>
      <p:sp>
        <p:nvSpPr>
          <p:cNvPr id="28" name="RecArrow"/>
          <p:cNvSpPr/>
          <p:nvPr/>
        </p:nvSpPr>
        <p:spPr>
          <a:xfrm>
            <a:off x="6583680" y="4672584"/>
            <a:ext cx="274320" cy="274320"/>
          </a:xfrm>
          <a:prstGeom prst="rightArrow">
            <a:avLst/>
          </a:prstGeom>
          <a:solidFill>
            <a:schemeClr val="accent3"/>
          </a:solidFill>
          <a:ln/>
        </p:spPr>
        <p:txBody>
          <a:bodyPr/>
          <a:lstStyle/>
          <a:p>
            <a:endParaRPr lang="en-US"/>
          </a:p>
        </p:txBody>
      </p:sp>
      <p:sp>
        <p:nvSpPr>
          <p:cNvPr id="29" name="Text 26"/>
          <p:cNvSpPr txBox="1"/>
          <p:nvPr/>
        </p:nvSpPr>
        <p:spPr>
          <a:xfrm>
            <a:off x="6949440" y="4398264"/>
            <a:ext cx="4572000" cy="822960"/>
          </a:xfrm>
          <a:prstGeom prst="rect">
            <a:avLst/>
          </a:prstGeom>
          <a:noFill/>
          <a:ln/>
        </p:spPr>
        <p:txBody>
          <a:bodyPr wrap="square" lIns="0" tIns="0" rIns="0" bIns="0" rtlCol="0" anchor="ctr"/>
          <a:lstStyle/>
          <a:p>
            <a:pPr marL="0" indent="0">
              <a:buNone/>
            </a:pPr>
            <a:r>
              <a:rPr lang="en-US" sz="1350" b="1" dirty="0">
                <a:solidFill>
                  <a:schemeClr val="tx2"/>
                </a:solidFill>
                <a:latin typeface="Calibri" pitchFamily="34" charset="0"/>
                <a:ea typeface="Calibri" pitchFamily="34" charset="-122"/>
                <a:cs typeface="Calibri" pitchFamily="34" charset="-120"/>
              </a:rPr>
              <a:t>Put promotion behind high-margin products and segments</a:t>
            </a:r>
            <a:endParaRPr lang="en-US" sz="1350" dirty="0"/>
          </a:p>
        </p:txBody>
      </p:sp>
      <p:sp>
        <p:nvSpPr>
          <p:cNvPr id="30" name="RecCard"/>
          <p:cNvSpPr/>
          <p:nvPr/>
        </p:nvSpPr>
        <p:spPr>
          <a:xfrm>
            <a:off x="548640" y="5330952"/>
            <a:ext cx="11064240" cy="822960"/>
          </a:xfrm>
          <a:prstGeom prst="roundRect">
            <a:avLst>
              <a:gd name="adj" fmla="val 11111"/>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31" name="RecTag"/>
          <p:cNvSpPr/>
          <p:nvPr/>
        </p:nvSpPr>
        <p:spPr>
          <a:xfrm>
            <a:off x="685800" y="5468112"/>
            <a:ext cx="1554480" cy="548640"/>
          </a:xfrm>
          <a:prstGeom prst="roundRect">
            <a:avLst>
              <a:gd name="adj" fmla="val 16667"/>
            </a:avLst>
          </a:prstGeom>
          <a:solidFill>
            <a:schemeClr val="accent1"/>
          </a:solidFill>
          <a:ln/>
        </p:spPr>
        <p:txBody>
          <a:bodyPr/>
          <a:lstStyle/>
          <a:p>
            <a:endParaRPr lang="en-US"/>
          </a:p>
        </p:txBody>
      </p:sp>
      <p:sp>
        <p:nvSpPr>
          <p:cNvPr id="32" name="Text 29"/>
          <p:cNvSpPr txBox="1"/>
          <p:nvPr/>
        </p:nvSpPr>
        <p:spPr>
          <a:xfrm>
            <a:off x="685800" y="5468112"/>
            <a:ext cx="1554480" cy="548640"/>
          </a:xfrm>
          <a:prstGeom prst="rect">
            <a:avLst/>
          </a:prstGeom>
          <a:noFill/>
          <a:ln/>
        </p:spPr>
        <p:txBody>
          <a:bodyPr wrap="square" lIns="0" tIns="0" rIns="0" bIns="0" rtlCol="0" anchor="ctr"/>
          <a:lstStyle/>
          <a:p>
            <a:pPr marL="0" indent="0" algn="ctr">
              <a:buNone/>
            </a:pPr>
            <a:r>
              <a:rPr lang="en-US" sz="1250" b="1" dirty="0">
                <a:solidFill>
                  <a:schemeClr val="bg1"/>
                </a:solidFill>
                <a:latin typeface="Calibri" pitchFamily="34" charset="0"/>
                <a:ea typeface="Calibri" pitchFamily="34" charset="-122"/>
                <a:cs typeface="Calibri" pitchFamily="34" charset="-120"/>
              </a:rPr>
              <a:t>Plan for autumn</a:t>
            </a:r>
            <a:endParaRPr lang="en-US" sz="1250" dirty="0"/>
          </a:p>
        </p:txBody>
      </p:sp>
      <p:sp>
        <p:nvSpPr>
          <p:cNvPr id="33" name="Text 30"/>
          <p:cNvSpPr txBox="1"/>
          <p:nvPr/>
        </p:nvSpPr>
        <p:spPr>
          <a:xfrm>
            <a:off x="2377440" y="5330952"/>
            <a:ext cx="4297680" cy="822960"/>
          </a:xfrm>
          <a:prstGeom prst="rect">
            <a:avLst/>
          </a:prstGeom>
          <a:noFill/>
          <a:ln/>
        </p:spPr>
        <p:txBody>
          <a:bodyPr wrap="square" lIns="0" tIns="0" rIns="0" bIns="0" rtlCol="0" anchor="ctr"/>
          <a:lstStyle/>
          <a:p>
            <a:pPr marL="0" indent="0">
              <a:buNone/>
            </a:pPr>
            <a:r>
              <a:rPr lang="en-US" sz="1350" dirty="0">
                <a:solidFill>
                  <a:schemeClr val="tx1"/>
                </a:solidFill>
                <a:latin typeface="Calibri" pitchFamily="34" charset="0"/>
                <a:ea typeface="Calibri" pitchFamily="34" charset="-122"/>
                <a:cs typeface="Calibri" pitchFamily="34" charset="-120"/>
              </a:rPr>
              <a:t>53% of sales fall in Sep to Dec</a:t>
            </a:r>
            <a:endParaRPr lang="en-US" sz="1350" dirty="0"/>
          </a:p>
        </p:txBody>
      </p:sp>
      <p:sp>
        <p:nvSpPr>
          <p:cNvPr id="34" name="RecArrow"/>
          <p:cNvSpPr/>
          <p:nvPr/>
        </p:nvSpPr>
        <p:spPr>
          <a:xfrm>
            <a:off x="6583680" y="5605272"/>
            <a:ext cx="274320" cy="274320"/>
          </a:xfrm>
          <a:prstGeom prst="rightArrow">
            <a:avLst/>
          </a:prstGeom>
          <a:solidFill>
            <a:schemeClr val="accent3"/>
          </a:solidFill>
          <a:ln/>
        </p:spPr>
        <p:txBody>
          <a:bodyPr/>
          <a:lstStyle/>
          <a:p>
            <a:endParaRPr lang="en-US"/>
          </a:p>
        </p:txBody>
      </p:sp>
      <p:sp>
        <p:nvSpPr>
          <p:cNvPr id="35" name="Text 32"/>
          <p:cNvSpPr txBox="1"/>
          <p:nvPr/>
        </p:nvSpPr>
        <p:spPr>
          <a:xfrm>
            <a:off x="6949440" y="5330952"/>
            <a:ext cx="4572000" cy="822960"/>
          </a:xfrm>
          <a:prstGeom prst="rect">
            <a:avLst/>
          </a:prstGeom>
          <a:noFill/>
          <a:ln/>
        </p:spPr>
        <p:txBody>
          <a:bodyPr wrap="square" lIns="0" tIns="0" rIns="0" bIns="0" rtlCol="0" anchor="ctr"/>
          <a:lstStyle/>
          <a:p>
            <a:pPr marL="0" indent="0">
              <a:buNone/>
            </a:pPr>
            <a:r>
              <a:rPr lang="en-US" sz="1350" b="1" dirty="0">
                <a:solidFill>
                  <a:schemeClr val="tx2"/>
                </a:solidFill>
                <a:latin typeface="Calibri" pitchFamily="34" charset="0"/>
                <a:ea typeface="Calibri" pitchFamily="34" charset="-122"/>
                <a:cs typeface="Calibri" pitchFamily="34" charset="-120"/>
              </a:rPr>
              <a:t>Line up stock and staffing before September</a:t>
            </a:r>
            <a:endParaRPr lang="en-US" sz="135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Challenges and lessons learned</a:t>
            </a:r>
            <a:endParaRPr lang="en-US" sz="3000" dirty="0"/>
          </a:p>
        </p:txBody>
      </p:sp>
      <p:sp>
        <p:nvSpPr>
          <p:cNvPr id="9" name="ChallengeCard"/>
          <p:cNvSpPr/>
          <p:nvPr/>
        </p:nvSpPr>
        <p:spPr>
          <a:xfrm>
            <a:off x="548640" y="1899920"/>
            <a:ext cx="6766560" cy="1051560"/>
          </a:xfrm>
          <a:prstGeom prst="roundRect">
            <a:avLst>
              <a:gd name="adj" fmla="val 8696"/>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0" name="IconCircle"/>
          <p:cNvSpPr/>
          <p:nvPr/>
        </p:nvSpPr>
        <p:spPr>
          <a:xfrm>
            <a:off x="731520" y="2082800"/>
            <a:ext cx="685800" cy="685800"/>
          </a:xfrm>
          <a:prstGeom prst="ellipse">
            <a:avLst/>
          </a:prstGeom>
          <a:solidFill>
            <a:schemeClr val="accent2"/>
          </a:solidFill>
          <a:ln/>
        </p:spPr>
        <p:txBody>
          <a:bodyPr/>
          <a:lstStyle/>
          <a:p>
            <a:endParaRPr lang="en-US"/>
          </a:p>
        </p:txBody>
      </p:sp>
      <p:pic>
        <p:nvPicPr>
          <p:cNvPr id="11" name="Image 1" descr="icon"/>
          <p:cNvPicPr>
            <a:picLocks noChangeAspect="1"/>
          </p:cNvPicPr>
          <p:nvPr/>
        </p:nvPicPr>
        <p:blipFill>
          <a:blip r:embed="rId3"/>
          <a:stretch>
            <a:fillRect/>
          </a:stretch>
        </p:blipFill>
        <p:spPr>
          <a:xfrm>
            <a:off x="896112" y="2247392"/>
            <a:ext cx="356616" cy="356616"/>
          </a:xfrm>
          <a:prstGeom prst="rect">
            <a:avLst/>
          </a:prstGeom>
        </p:spPr>
      </p:pic>
      <p:sp>
        <p:nvSpPr>
          <p:cNvPr id="12" name="Text 7"/>
          <p:cNvSpPr txBox="1"/>
          <p:nvPr/>
        </p:nvSpPr>
        <p:spPr>
          <a:xfrm>
            <a:off x="1600200" y="1991360"/>
            <a:ext cx="557784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Empty dates and null warnings</a:t>
            </a:r>
            <a:endParaRPr lang="en-US" sz="1500" dirty="0"/>
          </a:p>
        </p:txBody>
      </p:sp>
      <p:sp>
        <p:nvSpPr>
          <p:cNvPr id="13" name="Text 8"/>
          <p:cNvSpPr txBox="1"/>
          <p:nvPr/>
        </p:nvSpPr>
        <p:spPr>
          <a:xfrm>
            <a:off x="1600200" y="2357120"/>
            <a:ext cx="5577840" cy="548640"/>
          </a:xfrm>
          <a:prstGeom prst="rect">
            <a:avLst/>
          </a:prstGeom>
          <a:noFill/>
          <a:ln/>
        </p:spPr>
        <p:txBody>
          <a:bodyPr wrap="square" lIns="0" tIns="0" rIns="0" bIns="0" rtlCol="0" anchor="t"/>
          <a:lstStyle/>
          <a:p>
            <a:pPr marL="0" indent="0">
              <a:buNone/>
            </a:pPr>
            <a:r>
              <a:rPr lang="en-US" sz="1350" dirty="0">
                <a:solidFill>
                  <a:schemeClr val="tx1"/>
                </a:solidFill>
                <a:latin typeface="Calibri" pitchFamily="34" charset="0"/>
                <a:ea typeface="Calibri" pitchFamily="34" charset="-122"/>
                <a:cs typeface="Calibri" pitchFamily="34" charset="-120"/>
              </a:rPr>
              <a:t>The date dimension runs 2012 to 2017. Fix: filter Year Number to 2013 to 2016.</a:t>
            </a:r>
            <a:endParaRPr lang="en-US" sz="1350" dirty="0"/>
          </a:p>
        </p:txBody>
      </p:sp>
      <p:sp>
        <p:nvSpPr>
          <p:cNvPr id="14" name="ChallengeCard"/>
          <p:cNvSpPr/>
          <p:nvPr/>
        </p:nvSpPr>
        <p:spPr>
          <a:xfrm>
            <a:off x="548640" y="3088640"/>
            <a:ext cx="6766560" cy="1051560"/>
          </a:xfrm>
          <a:prstGeom prst="roundRect">
            <a:avLst>
              <a:gd name="adj" fmla="val 8696"/>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5" name="IconCircle"/>
          <p:cNvSpPr/>
          <p:nvPr/>
        </p:nvSpPr>
        <p:spPr>
          <a:xfrm>
            <a:off x="731520" y="3271520"/>
            <a:ext cx="685800" cy="685800"/>
          </a:xfrm>
          <a:prstGeom prst="ellipse">
            <a:avLst/>
          </a:prstGeom>
          <a:solidFill>
            <a:schemeClr val="accent2"/>
          </a:solidFill>
          <a:ln/>
        </p:spPr>
        <p:txBody>
          <a:bodyPr/>
          <a:lstStyle/>
          <a:p>
            <a:endParaRPr lang="en-US"/>
          </a:p>
        </p:txBody>
      </p:sp>
      <p:pic>
        <p:nvPicPr>
          <p:cNvPr id="16" name="Image 2" descr="icon"/>
          <p:cNvPicPr>
            <a:picLocks noChangeAspect="1"/>
          </p:cNvPicPr>
          <p:nvPr/>
        </p:nvPicPr>
        <p:blipFill>
          <a:blip r:embed="rId3"/>
          <a:stretch>
            <a:fillRect/>
          </a:stretch>
        </p:blipFill>
        <p:spPr>
          <a:xfrm>
            <a:off x="896112" y="3436112"/>
            <a:ext cx="356616" cy="356616"/>
          </a:xfrm>
          <a:prstGeom prst="rect">
            <a:avLst/>
          </a:prstGeom>
        </p:spPr>
      </p:pic>
      <p:sp>
        <p:nvSpPr>
          <p:cNvPr id="17" name="Text 11"/>
          <p:cNvSpPr txBox="1"/>
          <p:nvPr/>
        </p:nvSpPr>
        <p:spPr>
          <a:xfrm>
            <a:off x="1600200" y="3180080"/>
            <a:ext cx="557784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Blank Profit Swing chart</a:t>
            </a:r>
            <a:endParaRPr lang="en-US" sz="1500" dirty="0"/>
          </a:p>
        </p:txBody>
      </p:sp>
      <p:sp>
        <p:nvSpPr>
          <p:cNvPr id="18" name="Text 12"/>
          <p:cNvSpPr txBox="1"/>
          <p:nvPr/>
        </p:nvSpPr>
        <p:spPr>
          <a:xfrm>
            <a:off x="1600200" y="3545840"/>
            <a:ext cx="5577840" cy="548640"/>
          </a:xfrm>
          <a:prstGeom prst="rect">
            <a:avLst/>
          </a:prstGeom>
          <a:noFill/>
          <a:ln/>
        </p:spPr>
        <p:txBody>
          <a:bodyPr wrap="square" lIns="0" tIns="0" rIns="0" bIns="0" rtlCol="0" anchor="t"/>
          <a:lstStyle/>
          <a:p>
            <a:pPr marL="0" indent="0">
              <a:buNone/>
            </a:pPr>
            <a:r>
              <a:rPr lang="en-US" sz="1350" dirty="0">
                <a:solidFill>
                  <a:schemeClr val="tx1"/>
                </a:solidFill>
                <a:latin typeface="Calibri" pitchFamily="34" charset="0"/>
                <a:ea typeface="Calibri" pitchFamily="34" charset="-122"/>
                <a:cs typeface="Calibri" pitchFamily="34" charset="-120"/>
              </a:rPr>
              <a:t>The table calculation needed Compute Using set to Year Month.</a:t>
            </a:r>
            <a:endParaRPr lang="en-US" sz="1350" dirty="0"/>
          </a:p>
        </p:txBody>
      </p:sp>
      <p:sp>
        <p:nvSpPr>
          <p:cNvPr id="19" name="ChallengeCard"/>
          <p:cNvSpPr/>
          <p:nvPr/>
        </p:nvSpPr>
        <p:spPr>
          <a:xfrm>
            <a:off x="548640" y="4277360"/>
            <a:ext cx="6766560" cy="1051560"/>
          </a:xfrm>
          <a:prstGeom prst="roundRect">
            <a:avLst>
              <a:gd name="adj" fmla="val 8696"/>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IconCircle"/>
          <p:cNvSpPr/>
          <p:nvPr/>
        </p:nvSpPr>
        <p:spPr>
          <a:xfrm>
            <a:off x="731520" y="4460240"/>
            <a:ext cx="685800" cy="685800"/>
          </a:xfrm>
          <a:prstGeom prst="ellipse">
            <a:avLst/>
          </a:prstGeom>
          <a:solidFill>
            <a:schemeClr val="accent2"/>
          </a:solidFill>
          <a:ln/>
        </p:spPr>
        <p:txBody>
          <a:bodyPr/>
          <a:lstStyle/>
          <a:p>
            <a:endParaRPr lang="en-US"/>
          </a:p>
        </p:txBody>
      </p:sp>
      <p:pic>
        <p:nvPicPr>
          <p:cNvPr id="21" name="Image 3" descr="icon"/>
          <p:cNvPicPr>
            <a:picLocks noChangeAspect="1"/>
          </p:cNvPicPr>
          <p:nvPr/>
        </p:nvPicPr>
        <p:blipFill>
          <a:blip r:embed="rId3"/>
          <a:stretch>
            <a:fillRect/>
          </a:stretch>
        </p:blipFill>
        <p:spPr>
          <a:xfrm>
            <a:off x="896112" y="4624832"/>
            <a:ext cx="356616" cy="356616"/>
          </a:xfrm>
          <a:prstGeom prst="rect">
            <a:avLst/>
          </a:prstGeom>
        </p:spPr>
      </p:pic>
      <p:sp>
        <p:nvSpPr>
          <p:cNvPr id="22" name="Text 15"/>
          <p:cNvSpPr txBox="1"/>
          <p:nvPr/>
        </p:nvSpPr>
        <p:spPr>
          <a:xfrm>
            <a:off x="1600200" y="4368800"/>
            <a:ext cx="5577840" cy="36576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Map and layout fixes</a:t>
            </a:r>
            <a:endParaRPr lang="en-US" sz="1500" dirty="0"/>
          </a:p>
        </p:txBody>
      </p:sp>
      <p:sp>
        <p:nvSpPr>
          <p:cNvPr id="23" name="Text 16"/>
          <p:cNvSpPr txBox="1"/>
          <p:nvPr/>
        </p:nvSpPr>
        <p:spPr>
          <a:xfrm>
            <a:off x="1600200" y="4734560"/>
            <a:ext cx="5577840" cy="548640"/>
          </a:xfrm>
          <a:prstGeom prst="rect">
            <a:avLst/>
          </a:prstGeom>
          <a:noFill/>
          <a:ln/>
        </p:spPr>
        <p:txBody>
          <a:bodyPr wrap="square" lIns="0" tIns="0" rIns="0" bIns="0" rtlCol="0" anchor="t"/>
          <a:lstStyle/>
          <a:p>
            <a:pPr marL="0" indent="0">
              <a:buNone/>
            </a:pPr>
            <a:r>
              <a:rPr lang="en-US" sz="1350" dirty="0">
                <a:solidFill>
                  <a:schemeClr val="tx1"/>
                </a:solidFill>
                <a:latin typeface="Calibri" pitchFamily="34" charset="0"/>
                <a:ea typeface="Calibri" pitchFamily="34" charset="-122"/>
                <a:cs typeface="Calibri" pitchFamily="34" charset="-120"/>
              </a:rPr>
              <a:t>Map defaulted to Egypt, so we set it to United States. Long pages became ten 1400 x 900 dashboards.</a:t>
            </a:r>
            <a:endParaRPr lang="en-US" sz="1350" dirty="0"/>
          </a:p>
        </p:txBody>
      </p:sp>
      <p:sp>
        <p:nvSpPr>
          <p:cNvPr id="24" name="LessonsCard"/>
          <p:cNvSpPr/>
          <p:nvPr/>
        </p:nvSpPr>
        <p:spPr>
          <a:xfrm>
            <a:off x="7589520" y="1371600"/>
            <a:ext cx="4023360" cy="4617720"/>
          </a:xfrm>
          <a:prstGeom prst="roundRect">
            <a:avLst>
              <a:gd name="adj" fmla="val 2273"/>
            </a:avLst>
          </a:prstGeom>
          <a:solidFill>
            <a:schemeClr val="tx2"/>
          </a:solidFill>
          <a:ln/>
          <a:effectLst>
            <a:outerShdw blurRad="101600" dist="25400" dir="5400000" algn="bl" rotWithShape="0">
              <a:srgbClr val="000000">
                <a:alpha val="10000"/>
              </a:srgbClr>
            </a:outerShdw>
          </a:effectLst>
        </p:spPr>
        <p:txBody>
          <a:bodyPr/>
          <a:lstStyle/>
          <a:p>
            <a:endParaRPr lang="en-US"/>
          </a:p>
        </p:txBody>
      </p:sp>
      <p:sp>
        <p:nvSpPr>
          <p:cNvPr id="25" name="Text 18"/>
          <p:cNvSpPr txBox="1"/>
          <p:nvPr/>
        </p:nvSpPr>
        <p:spPr>
          <a:xfrm>
            <a:off x="7863840" y="1554480"/>
            <a:ext cx="3474720" cy="45720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What we learned</a:t>
            </a:r>
            <a:endParaRPr lang="en-US" sz="2000" dirty="0"/>
          </a:p>
        </p:txBody>
      </p:sp>
      <p:sp>
        <p:nvSpPr>
          <p:cNvPr id="26" name="Text 19"/>
          <p:cNvSpPr txBox="1"/>
          <p:nvPr/>
        </p:nvSpPr>
        <p:spPr>
          <a:xfrm>
            <a:off x="7863840" y="2148840"/>
            <a:ext cx="3474720" cy="37490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Validate early and compare against SQL</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Agree on KPI definitions before building</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Keep one shared data source</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Say what is not finished</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Redesign when a page gets too crowded</a:t>
            </a:r>
            <a:endParaRPr lang="en-US" sz="17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Tools and technologies behind the project</a:t>
            </a:r>
            <a:endParaRPr lang="en-US" sz="3000" dirty="0"/>
          </a:p>
        </p:txBody>
      </p:sp>
      <p:sp>
        <p:nvSpPr>
          <p:cNvPr id="4" name="ToolCard"/>
          <p:cNvSpPr/>
          <p:nvPr/>
        </p:nvSpPr>
        <p:spPr>
          <a:xfrm>
            <a:off x="548640" y="1371600"/>
            <a:ext cx="5440680" cy="2194560"/>
          </a:xfrm>
          <a:prstGeom prst="roundRect">
            <a:avLst>
              <a:gd name="adj" fmla="val 41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IconCircle"/>
          <p:cNvSpPr/>
          <p:nvPr/>
        </p:nvSpPr>
        <p:spPr>
          <a:xfrm>
            <a:off x="822960" y="1645920"/>
            <a:ext cx="777240" cy="777240"/>
          </a:xfrm>
          <a:prstGeom prst="ellipse">
            <a:avLst/>
          </a:prstGeom>
          <a:solidFill>
            <a:schemeClr val="accent1"/>
          </a:solidFill>
          <a:ln/>
        </p:spPr>
        <p:txBody>
          <a:bodyPr/>
          <a:lstStyle/>
          <a:p>
            <a:endParaRPr lang="en-US"/>
          </a:p>
        </p:txBody>
      </p:sp>
      <p:pic>
        <p:nvPicPr>
          <p:cNvPr id="6" name="Image 0" descr="icon"/>
          <p:cNvPicPr>
            <a:picLocks noChangeAspect="1"/>
          </p:cNvPicPr>
          <p:nvPr/>
        </p:nvPicPr>
        <p:blipFill>
          <a:blip r:embed="rId3"/>
          <a:stretch>
            <a:fillRect/>
          </a:stretch>
        </p:blipFill>
        <p:spPr>
          <a:xfrm>
            <a:off x="1009498" y="1832458"/>
            <a:ext cx="404165" cy="404165"/>
          </a:xfrm>
          <a:prstGeom prst="rect">
            <a:avLst/>
          </a:prstGeom>
        </p:spPr>
      </p:pic>
      <p:sp>
        <p:nvSpPr>
          <p:cNvPr id="7" name="Text 3"/>
          <p:cNvSpPr txBox="1"/>
          <p:nvPr/>
        </p:nvSpPr>
        <p:spPr>
          <a:xfrm>
            <a:off x="1828800" y="1691640"/>
            <a:ext cx="4023360" cy="6858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Tableau Desktop</a:t>
            </a:r>
            <a:endParaRPr lang="en-US" sz="2000" dirty="0"/>
          </a:p>
        </p:txBody>
      </p:sp>
      <p:sp>
        <p:nvSpPr>
          <p:cNvPr id="8" name="Text 4"/>
          <p:cNvSpPr txBox="1"/>
          <p:nvPr/>
        </p:nvSpPr>
        <p:spPr>
          <a:xfrm>
            <a:off x="868680" y="256032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Built ten dashboards and 44 worksheets on a live connection, with filters, actions and parameters.</a:t>
            </a:r>
            <a:endParaRPr lang="en-US" sz="1500" dirty="0"/>
          </a:p>
        </p:txBody>
      </p:sp>
      <p:sp>
        <p:nvSpPr>
          <p:cNvPr id="9" name="ToolCard"/>
          <p:cNvSpPr/>
          <p:nvPr/>
        </p:nvSpPr>
        <p:spPr>
          <a:xfrm>
            <a:off x="6172200" y="1371600"/>
            <a:ext cx="5440680" cy="2194560"/>
          </a:xfrm>
          <a:prstGeom prst="roundRect">
            <a:avLst>
              <a:gd name="adj" fmla="val 41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0" name="IconCircle"/>
          <p:cNvSpPr/>
          <p:nvPr/>
        </p:nvSpPr>
        <p:spPr>
          <a:xfrm>
            <a:off x="6446520" y="1645920"/>
            <a:ext cx="777240" cy="777240"/>
          </a:xfrm>
          <a:prstGeom prst="ellipse">
            <a:avLst/>
          </a:prstGeom>
          <a:solidFill>
            <a:schemeClr val="tx2"/>
          </a:solidFill>
          <a:ln/>
        </p:spPr>
        <p:txBody>
          <a:bodyPr/>
          <a:lstStyle/>
          <a:p>
            <a:endParaRPr lang="en-US"/>
          </a:p>
        </p:txBody>
      </p:sp>
      <p:pic>
        <p:nvPicPr>
          <p:cNvPr id="11" name="Image 1" descr="icon"/>
          <p:cNvPicPr>
            <a:picLocks noChangeAspect="1"/>
          </p:cNvPicPr>
          <p:nvPr/>
        </p:nvPicPr>
        <p:blipFill>
          <a:blip r:embed="rId4"/>
          <a:stretch>
            <a:fillRect/>
          </a:stretch>
        </p:blipFill>
        <p:spPr>
          <a:xfrm>
            <a:off x="6633058" y="1832458"/>
            <a:ext cx="404165" cy="404165"/>
          </a:xfrm>
          <a:prstGeom prst="rect">
            <a:avLst/>
          </a:prstGeom>
        </p:spPr>
      </p:pic>
      <p:sp>
        <p:nvSpPr>
          <p:cNvPr id="12" name="Text 7"/>
          <p:cNvSpPr txBox="1"/>
          <p:nvPr/>
        </p:nvSpPr>
        <p:spPr>
          <a:xfrm>
            <a:off x="7452360" y="1691640"/>
            <a:ext cx="4023360" cy="6858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SQL Server and SSMS</a:t>
            </a:r>
            <a:endParaRPr lang="en-US" sz="2000" dirty="0"/>
          </a:p>
        </p:txBody>
      </p:sp>
      <p:sp>
        <p:nvSpPr>
          <p:cNvPr id="13" name="Text 8"/>
          <p:cNvSpPr txBox="1"/>
          <p:nvPr/>
        </p:nvSpPr>
        <p:spPr>
          <a:xfrm>
            <a:off x="6492240" y="256032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Held the database, ran the 20 analytics queries, and let us check dashboard logic.</a:t>
            </a:r>
            <a:endParaRPr lang="en-US" sz="1500" dirty="0"/>
          </a:p>
        </p:txBody>
      </p:sp>
      <p:sp>
        <p:nvSpPr>
          <p:cNvPr id="14" name="ToolCard"/>
          <p:cNvSpPr/>
          <p:nvPr/>
        </p:nvSpPr>
        <p:spPr>
          <a:xfrm>
            <a:off x="548640" y="3749040"/>
            <a:ext cx="5440680" cy="2194560"/>
          </a:xfrm>
          <a:prstGeom prst="roundRect">
            <a:avLst>
              <a:gd name="adj" fmla="val 41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5" name="IconCircle"/>
          <p:cNvSpPr/>
          <p:nvPr/>
        </p:nvSpPr>
        <p:spPr>
          <a:xfrm>
            <a:off x="822960" y="4023360"/>
            <a:ext cx="777240" cy="777240"/>
          </a:xfrm>
          <a:prstGeom prst="ellipse">
            <a:avLst/>
          </a:prstGeom>
          <a:solidFill>
            <a:schemeClr val="accent1"/>
          </a:solidFill>
          <a:ln/>
        </p:spPr>
        <p:txBody>
          <a:bodyPr/>
          <a:lstStyle/>
          <a:p>
            <a:endParaRPr lang="en-US"/>
          </a:p>
        </p:txBody>
      </p:sp>
      <p:pic>
        <p:nvPicPr>
          <p:cNvPr id="16" name="Image 2" descr="icon"/>
          <p:cNvPicPr>
            <a:picLocks noChangeAspect="1"/>
          </p:cNvPicPr>
          <p:nvPr/>
        </p:nvPicPr>
        <p:blipFill>
          <a:blip r:embed="rId5"/>
          <a:stretch>
            <a:fillRect/>
          </a:stretch>
        </p:blipFill>
        <p:spPr>
          <a:xfrm>
            <a:off x="1009498" y="4209898"/>
            <a:ext cx="404165" cy="404165"/>
          </a:xfrm>
          <a:prstGeom prst="rect">
            <a:avLst/>
          </a:prstGeom>
        </p:spPr>
      </p:pic>
      <p:sp>
        <p:nvSpPr>
          <p:cNvPr id="17" name="Text 11"/>
          <p:cNvSpPr txBox="1"/>
          <p:nvPr/>
        </p:nvSpPr>
        <p:spPr>
          <a:xfrm>
            <a:off x="1828800" y="4069080"/>
            <a:ext cx="4023360" cy="6858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Star schema warehouse</a:t>
            </a:r>
            <a:endParaRPr lang="en-US" sz="2000" dirty="0"/>
          </a:p>
        </p:txBody>
      </p:sp>
      <p:sp>
        <p:nvSpPr>
          <p:cNvPr id="18" name="Text 12"/>
          <p:cNvSpPr txBox="1"/>
          <p:nvPr/>
        </p:nvSpPr>
        <p:spPr>
          <a:xfrm>
            <a:off x="868680" y="493776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One fact table and five dimensions so every KPI is defined once and reused.</a:t>
            </a:r>
            <a:endParaRPr lang="en-US" sz="1500" dirty="0"/>
          </a:p>
        </p:txBody>
      </p:sp>
      <p:sp>
        <p:nvSpPr>
          <p:cNvPr id="19" name="ToolCard"/>
          <p:cNvSpPr/>
          <p:nvPr/>
        </p:nvSpPr>
        <p:spPr>
          <a:xfrm>
            <a:off x="6172200" y="3749040"/>
            <a:ext cx="5440680" cy="2194560"/>
          </a:xfrm>
          <a:prstGeom prst="roundRect">
            <a:avLst>
              <a:gd name="adj" fmla="val 4167"/>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20" name="IconCircle"/>
          <p:cNvSpPr/>
          <p:nvPr/>
        </p:nvSpPr>
        <p:spPr>
          <a:xfrm>
            <a:off x="6446520" y="4023360"/>
            <a:ext cx="777240" cy="777240"/>
          </a:xfrm>
          <a:prstGeom prst="ellipse">
            <a:avLst/>
          </a:prstGeom>
          <a:solidFill>
            <a:schemeClr val="tx2"/>
          </a:solidFill>
          <a:ln/>
        </p:spPr>
        <p:txBody>
          <a:bodyPr/>
          <a:lstStyle/>
          <a:p>
            <a:endParaRPr lang="en-US"/>
          </a:p>
        </p:txBody>
      </p:sp>
      <p:pic>
        <p:nvPicPr>
          <p:cNvPr id="21" name="Image 3" descr="icon"/>
          <p:cNvPicPr>
            <a:picLocks noChangeAspect="1"/>
          </p:cNvPicPr>
          <p:nvPr/>
        </p:nvPicPr>
        <p:blipFill>
          <a:blip r:embed="rId6"/>
          <a:stretch>
            <a:fillRect/>
          </a:stretch>
        </p:blipFill>
        <p:spPr>
          <a:xfrm>
            <a:off x="6633058" y="4209898"/>
            <a:ext cx="404165" cy="404165"/>
          </a:xfrm>
          <a:prstGeom prst="rect">
            <a:avLst/>
          </a:prstGeom>
        </p:spPr>
      </p:pic>
      <p:sp>
        <p:nvSpPr>
          <p:cNvPr id="22" name="Text 15"/>
          <p:cNvSpPr txBox="1"/>
          <p:nvPr/>
        </p:nvSpPr>
        <p:spPr>
          <a:xfrm>
            <a:off x="7452360" y="4069080"/>
            <a:ext cx="4023360" cy="68580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Git and GitHub</a:t>
            </a:r>
            <a:endParaRPr lang="en-US" sz="2000" dirty="0"/>
          </a:p>
        </p:txBody>
      </p:sp>
      <p:sp>
        <p:nvSpPr>
          <p:cNvPr id="23" name="Text 16"/>
          <p:cNvSpPr txBox="1"/>
          <p:nvPr/>
        </p:nvSpPr>
        <p:spPr>
          <a:xfrm>
            <a:off x="6492240" y="4937760"/>
            <a:ext cx="4846320" cy="9144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One branch per team member, then a merge into the final workbook, plus documentation in Markdown.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Project impact and reflection</a:t>
            </a:r>
            <a:endParaRPr lang="en-US" sz="3000" dirty="0"/>
          </a:p>
        </p:txBody>
      </p:sp>
      <p:sp>
        <p:nvSpPr>
          <p:cNvPr id="4" name="AchievementCard"/>
          <p:cNvSpPr/>
          <p:nvPr/>
        </p:nvSpPr>
        <p:spPr>
          <a:xfrm>
            <a:off x="548640" y="1371600"/>
            <a:ext cx="23317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5" name="Text 2"/>
          <p:cNvSpPr txBox="1"/>
          <p:nvPr/>
        </p:nvSpPr>
        <p:spPr>
          <a:xfrm>
            <a:off x="548640" y="1554480"/>
            <a:ext cx="233172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10</a:t>
            </a:r>
            <a:endParaRPr lang="en-US" sz="4000" dirty="0"/>
          </a:p>
        </p:txBody>
      </p:sp>
      <p:sp>
        <p:nvSpPr>
          <p:cNvPr id="6" name="Text 3"/>
          <p:cNvSpPr txBox="1"/>
          <p:nvPr/>
        </p:nvSpPr>
        <p:spPr>
          <a:xfrm>
            <a:off x="548640" y="2286000"/>
            <a:ext cx="2331720" cy="36576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dashboards</a:t>
            </a:r>
            <a:endParaRPr lang="en-US" sz="1400" dirty="0"/>
          </a:p>
        </p:txBody>
      </p:sp>
      <p:sp>
        <p:nvSpPr>
          <p:cNvPr id="7" name="AchievementCard"/>
          <p:cNvSpPr/>
          <p:nvPr/>
        </p:nvSpPr>
        <p:spPr>
          <a:xfrm>
            <a:off x="3063240" y="1371600"/>
            <a:ext cx="23317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3063240" y="1554480"/>
            <a:ext cx="233172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44</a:t>
            </a:r>
            <a:endParaRPr lang="en-US" sz="4000" dirty="0"/>
          </a:p>
        </p:txBody>
      </p:sp>
      <p:sp>
        <p:nvSpPr>
          <p:cNvPr id="9" name="Text 6"/>
          <p:cNvSpPr txBox="1"/>
          <p:nvPr/>
        </p:nvSpPr>
        <p:spPr>
          <a:xfrm>
            <a:off x="3063240" y="2286000"/>
            <a:ext cx="2331720" cy="36576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worksheets</a:t>
            </a:r>
            <a:endParaRPr lang="en-US" sz="1400" dirty="0"/>
          </a:p>
        </p:txBody>
      </p:sp>
      <p:sp>
        <p:nvSpPr>
          <p:cNvPr id="10" name="AchievementCard"/>
          <p:cNvSpPr/>
          <p:nvPr/>
        </p:nvSpPr>
        <p:spPr>
          <a:xfrm>
            <a:off x="548640" y="2971800"/>
            <a:ext cx="23317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1" name="Text 8"/>
          <p:cNvSpPr txBox="1"/>
          <p:nvPr/>
        </p:nvSpPr>
        <p:spPr>
          <a:xfrm>
            <a:off x="548640" y="3154680"/>
            <a:ext cx="233172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12" name="Text 9"/>
          <p:cNvSpPr txBox="1"/>
          <p:nvPr/>
        </p:nvSpPr>
        <p:spPr>
          <a:xfrm>
            <a:off x="548640" y="3886200"/>
            <a:ext cx="2331720" cy="36576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SQL queries</a:t>
            </a:r>
            <a:endParaRPr lang="en-US" sz="1400" dirty="0"/>
          </a:p>
        </p:txBody>
      </p:sp>
      <p:sp>
        <p:nvSpPr>
          <p:cNvPr id="13" name="AchievementCard"/>
          <p:cNvSpPr/>
          <p:nvPr/>
        </p:nvSpPr>
        <p:spPr>
          <a:xfrm>
            <a:off x="3063240" y="2971800"/>
            <a:ext cx="2331720" cy="1417320"/>
          </a:xfrm>
          <a:prstGeom prst="roundRect">
            <a:avLst>
              <a:gd name="adj" fmla="val 6452"/>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4" name="Text 11"/>
          <p:cNvSpPr txBox="1"/>
          <p:nvPr/>
        </p:nvSpPr>
        <p:spPr>
          <a:xfrm>
            <a:off x="3063240" y="3154680"/>
            <a:ext cx="2331720" cy="73152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15" name="Text 12"/>
          <p:cNvSpPr txBox="1"/>
          <p:nvPr/>
        </p:nvSpPr>
        <p:spPr>
          <a:xfrm>
            <a:off x="3063240" y="3886200"/>
            <a:ext cx="2331720" cy="365760"/>
          </a:xfrm>
          <a:prstGeom prst="rect">
            <a:avLst/>
          </a:prstGeom>
          <a:noFill/>
          <a:ln/>
        </p:spPr>
        <p:txBody>
          <a:bodyPr wrap="square" lIns="0" tIns="0" rIns="0" bIns="0" rtlCol="0" anchor="t"/>
          <a:lstStyle/>
          <a:p>
            <a:pPr marL="0" indent="0" algn="ctr">
              <a:buNone/>
            </a:pPr>
            <a:r>
              <a:rPr lang="en-US" sz="1400" dirty="0">
                <a:solidFill>
                  <a:srgbClr val="000000"/>
                </a:solidFill>
                <a:latin typeface="Calibri" pitchFamily="34" charset="0"/>
                <a:ea typeface="Calibri" pitchFamily="34" charset="-122"/>
                <a:cs typeface="Calibri" pitchFamily="34" charset="-120"/>
              </a:rPr>
              <a:t>analysts</a:t>
            </a:r>
            <a:endParaRPr lang="en-US" sz="1400" dirty="0"/>
          </a:p>
        </p:txBody>
      </p:sp>
      <p:sp>
        <p:nvSpPr>
          <p:cNvPr id="16" name="WhyCard"/>
          <p:cNvSpPr/>
          <p:nvPr/>
        </p:nvSpPr>
        <p:spPr>
          <a:xfrm>
            <a:off x="548640" y="4663440"/>
            <a:ext cx="4846320" cy="1508760"/>
          </a:xfrm>
          <a:prstGeom prst="roundRect">
            <a:avLst>
              <a:gd name="adj" fmla="val 6061"/>
            </a:avLst>
          </a:prstGeom>
          <a:solidFill>
            <a:schemeClr val="tx2"/>
          </a:solidFill>
          <a:ln/>
          <a:effectLst>
            <a:outerShdw blurRad="101600" dist="25400" dir="5400000" algn="bl" rotWithShape="0">
              <a:srgbClr val="000000">
                <a:alpha val="10000"/>
              </a:srgbClr>
            </a:outerShdw>
          </a:effectLst>
        </p:spPr>
        <p:txBody>
          <a:bodyPr/>
          <a:lstStyle/>
          <a:p>
            <a:endParaRPr lang="en-US"/>
          </a:p>
        </p:txBody>
      </p:sp>
      <p:sp>
        <p:nvSpPr>
          <p:cNvPr id="17" name="Text 14"/>
          <p:cNvSpPr txBox="1"/>
          <p:nvPr/>
        </p:nvSpPr>
        <p:spPr>
          <a:xfrm>
            <a:off x="777240" y="4754880"/>
            <a:ext cx="4389120" cy="1325880"/>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A thin margin became a set of explanations: categories, discounts, states and seasons.</a:t>
            </a:r>
            <a:endParaRPr lang="en-US" sz="1500" dirty="0"/>
          </a:p>
        </p:txBody>
      </p:sp>
      <p:sp>
        <p:nvSpPr>
          <p:cNvPr id="18" name="FutureCard"/>
          <p:cNvSpPr/>
          <p:nvPr/>
        </p:nvSpPr>
        <p:spPr>
          <a:xfrm>
            <a:off x="5669280" y="1371600"/>
            <a:ext cx="5943600" cy="4800600"/>
          </a:xfrm>
          <a:prstGeom prst="roundRect">
            <a:avLst>
              <a:gd name="adj" fmla="val 1905"/>
            </a:avLst>
          </a:prstGeom>
          <a:solidFill>
            <a:schemeClr val="bg2"/>
          </a:solidFill>
          <a:ln/>
          <a:effectLst>
            <a:outerShdw blurRad="101600" dist="25400" dir="5400000" algn="bl" rotWithShape="0">
              <a:srgbClr val="000000">
                <a:alpha val="10000"/>
              </a:srgbClr>
            </a:outerShdw>
          </a:effectLst>
        </p:spPr>
        <p:txBody>
          <a:bodyPr/>
          <a:lstStyle/>
          <a:p>
            <a:endParaRPr lang="en-US"/>
          </a:p>
        </p:txBody>
      </p:sp>
      <p:sp>
        <p:nvSpPr>
          <p:cNvPr id="19" name="IconCircle"/>
          <p:cNvSpPr/>
          <p:nvPr/>
        </p:nvSpPr>
        <p:spPr>
          <a:xfrm>
            <a:off x="5897880" y="1554480"/>
            <a:ext cx="640080" cy="640080"/>
          </a:xfrm>
          <a:prstGeom prst="ellipse">
            <a:avLst/>
          </a:prstGeom>
          <a:solidFill>
            <a:schemeClr val="accent1"/>
          </a:solidFill>
          <a:ln/>
        </p:spPr>
        <p:txBody>
          <a:bodyPr/>
          <a:lstStyle/>
          <a:p>
            <a:endParaRPr lang="en-US"/>
          </a:p>
        </p:txBody>
      </p:sp>
      <p:pic>
        <p:nvPicPr>
          <p:cNvPr id="20" name="Image 0" descr="icon"/>
          <p:cNvPicPr>
            <a:picLocks noChangeAspect="1"/>
          </p:cNvPicPr>
          <p:nvPr/>
        </p:nvPicPr>
        <p:blipFill>
          <a:blip r:embed="rId3"/>
          <a:stretch>
            <a:fillRect/>
          </a:stretch>
        </p:blipFill>
        <p:spPr>
          <a:xfrm>
            <a:off x="6051499" y="1708099"/>
            <a:ext cx="332842" cy="332842"/>
          </a:xfrm>
          <a:prstGeom prst="rect">
            <a:avLst/>
          </a:prstGeom>
        </p:spPr>
      </p:pic>
      <p:sp>
        <p:nvSpPr>
          <p:cNvPr id="21" name="Text 17"/>
          <p:cNvSpPr txBox="1"/>
          <p:nvPr/>
        </p:nvSpPr>
        <p:spPr>
          <a:xfrm>
            <a:off x="6675120" y="1554480"/>
            <a:ext cx="4754880" cy="6400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If we kept going</a:t>
            </a:r>
            <a:endParaRPr lang="en-US" sz="2000" dirty="0"/>
          </a:p>
        </p:txBody>
      </p:sp>
      <p:sp>
        <p:nvSpPr>
          <p:cNvPr id="22" name="Text 18"/>
          <p:cNvSpPr txBox="1"/>
          <p:nvPr/>
        </p:nvSpPr>
        <p:spPr>
          <a:xfrm>
            <a:off x="5943600" y="2377440"/>
            <a:ext cx="5394960" cy="36576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Finish the numeric SQL versus Tableau comparison for every chart</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Set the 2013 to 2016 data source filter permanently</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Use one set of customer tier thresholds everywhere</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Analyse delivery time using the ship dates we already have</a:t>
            </a:r>
            <a:endParaRPr lang="en-US" sz="1700" dirty="0"/>
          </a:p>
          <a:p>
            <a:pPr marL="342900" indent="-342900">
              <a:spcAft>
                <a:spcPts val="1200"/>
              </a:spcAft>
              <a:buSzPct val="100000"/>
              <a:buChar char="•"/>
            </a:pPr>
            <a:r>
              <a:rPr lang="en-US" sz="1700" dirty="0">
                <a:solidFill>
                  <a:schemeClr val="tx1"/>
                </a:solidFill>
                <a:latin typeface="Calibri" pitchFamily="34" charset="0"/>
                <a:ea typeface="Calibri" pitchFamily="34" charset="-122"/>
                <a:cs typeface="Calibri" pitchFamily="34" charset="-120"/>
              </a:rPr>
              <a:t>Test the discount recommendations before rolling them out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828800" y="3474720"/>
            <a:ext cx="5486400" cy="5486400"/>
          </a:xfrm>
          <a:prstGeom prst="ellipse">
            <a:avLst/>
          </a:prstGeom>
          <a:solidFill>
            <a:schemeClr val="accent1">
              <a:alpha val="45000"/>
            </a:schemeClr>
          </a:solidFill>
          <a:ln w="12700">
            <a:solidFill>
              <a:schemeClr val="accent1">
                <a:alpha val="0"/>
              </a:schemeClr>
            </a:solidFill>
            <a:prstDash val="solid"/>
          </a:ln>
        </p:spPr>
        <p:txBody>
          <a:bodyPr/>
          <a:lstStyle/>
          <a:p>
            <a:endParaRPr lang="en-US"/>
          </a:p>
        </p:txBody>
      </p:sp>
      <p:sp>
        <p:nvSpPr>
          <p:cNvPr id="3" name="Shape 1"/>
          <p:cNvSpPr/>
          <p:nvPr/>
        </p:nvSpPr>
        <p:spPr>
          <a:xfrm>
            <a:off x="9326880" y="-1371600"/>
            <a:ext cx="4114800" cy="4114800"/>
          </a:xfrm>
          <a:prstGeom prst="ellipse">
            <a:avLst/>
          </a:prstGeom>
          <a:solidFill>
            <a:schemeClr val="accent3">
              <a:alpha val="30000"/>
            </a:schemeClr>
          </a:solidFill>
          <a:ln w="12700">
            <a:solidFill>
              <a:schemeClr val="accent3">
                <a:alpha val="0"/>
              </a:schemeClr>
            </a:solidFill>
            <a:prstDash val="solid"/>
          </a:ln>
        </p:spPr>
        <p:txBody>
          <a:bodyPr/>
          <a:lstStyle/>
          <a:p>
            <a:endParaRPr lang="en-US"/>
          </a:p>
        </p:txBody>
      </p:sp>
      <p:sp>
        <p:nvSpPr>
          <p:cNvPr id="4" name="Text 2"/>
          <p:cNvSpPr txBox="1"/>
          <p:nvPr/>
        </p:nvSpPr>
        <p:spPr>
          <a:xfrm>
            <a:off x="731520" y="1554480"/>
            <a:ext cx="10698480" cy="1280160"/>
          </a:xfrm>
          <a:prstGeom prst="rect">
            <a:avLst/>
          </a:prstGeom>
          <a:noFill/>
          <a:ln/>
        </p:spPr>
        <p:txBody>
          <a:bodyPr wrap="square" lIns="0" tIns="0" rIns="0" bIns="0" rtlCol="0" anchor="t"/>
          <a:lstStyle/>
          <a:p>
            <a:pPr marL="0" indent="0" algn="ctr">
              <a:buNone/>
            </a:pPr>
            <a:r>
              <a:rPr lang="en-US" sz="6600" b="1" dirty="0">
                <a:solidFill>
                  <a:schemeClr val="bg1"/>
                </a:solidFill>
                <a:latin typeface="Cambria" pitchFamily="34" charset="0"/>
                <a:ea typeface="Cambria" pitchFamily="34" charset="-122"/>
                <a:cs typeface="Cambria" pitchFamily="34" charset="-120"/>
              </a:rPr>
              <a:t>Thank you</a:t>
            </a:r>
            <a:endParaRPr lang="en-US" sz="6600" dirty="0"/>
          </a:p>
        </p:txBody>
      </p:sp>
      <p:sp>
        <p:nvSpPr>
          <p:cNvPr id="5" name="Text 3"/>
          <p:cNvSpPr txBox="1"/>
          <p:nvPr/>
        </p:nvSpPr>
        <p:spPr>
          <a:xfrm>
            <a:off x="731520" y="2926080"/>
            <a:ext cx="10698480" cy="548640"/>
          </a:xfrm>
          <a:prstGeom prst="rect">
            <a:avLst/>
          </a:prstGeom>
          <a:noFill/>
          <a:ln/>
        </p:spPr>
        <p:txBody>
          <a:bodyPr wrap="square" lIns="0" tIns="0" rIns="0" bIns="0" rtlCol="0" anchor="t"/>
          <a:lstStyle/>
          <a:p>
            <a:pPr marL="0" indent="0" algn="ctr">
              <a:buNone/>
            </a:pPr>
            <a:r>
              <a:rPr lang="en-US" sz="2200" dirty="0">
                <a:solidFill>
                  <a:schemeClr val="accent3"/>
                </a:solidFill>
                <a:latin typeface="Calibri" pitchFamily="34" charset="0"/>
                <a:ea typeface="Calibri" pitchFamily="34" charset="-122"/>
                <a:cs typeface="Calibri" pitchFamily="34" charset="-120"/>
              </a:rPr>
              <a:t>A thin 7.92% margin, and now we can explain it.</a:t>
            </a:r>
            <a:endParaRPr lang="en-US" sz="2200" dirty="0"/>
          </a:p>
        </p:txBody>
      </p:sp>
      <p:sp>
        <p:nvSpPr>
          <p:cNvPr id="6" name="Text 4"/>
          <p:cNvSpPr txBox="1"/>
          <p:nvPr/>
        </p:nvSpPr>
        <p:spPr>
          <a:xfrm>
            <a:off x="731520" y="4114800"/>
            <a:ext cx="10698480" cy="457200"/>
          </a:xfrm>
          <a:prstGeom prst="rect">
            <a:avLst/>
          </a:prstGeom>
          <a:noFill/>
          <a:ln/>
        </p:spPr>
        <p:txBody>
          <a:bodyPr wrap="square" lIns="0" tIns="0" rIns="0" bIns="0" rtlCol="0" anchor="t"/>
          <a:lstStyle/>
          <a:p>
            <a:pPr algn="ctr"/>
            <a:r>
              <a:rPr lang="en-US" dirty="0">
                <a:solidFill>
                  <a:schemeClr val="bg1"/>
                </a:solidFill>
                <a:latin typeface="Calibri" pitchFamily="34" charset="0"/>
                <a:ea typeface="Calibri" pitchFamily="34" charset="-122"/>
                <a:cs typeface="Calibri" pitchFamily="34" charset="-120"/>
              </a:rPr>
              <a:t>Momen  </a:t>
            </a:r>
            <a:r>
              <a:rPr lang="en-US" sz="1800" dirty="0">
                <a:solidFill>
                  <a:schemeClr val="bg1"/>
                </a:solidFill>
                <a:latin typeface="Calibri" pitchFamily="34" charset="0"/>
                <a:ea typeface="Calibri" pitchFamily="34" charset="-122"/>
                <a:cs typeface="Calibri" pitchFamily="34" charset="-120"/>
              </a:rPr>
              <a:t>| </a:t>
            </a:r>
            <a:r>
              <a:rPr lang="en-US" dirty="0">
                <a:solidFill>
                  <a:schemeClr val="bg1"/>
                </a:solidFill>
                <a:latin typeface="Calibri" pitchFamily="34" charset="0"/>
                <a:ea typeface="Calibri" pitchFamily="34" charset="-122"/>
                <a:cs typeface="Calibri" pitchFamily="34" charset="-120"/>
              </a:rPr>
              <a:t>Jowairya </a:t>
            </a:r>
            <a:r>
              <a:rPr lang="en-US" sz="1800" dirty="0">
                <a:solidFill>
                  <a:schemeClr val="bg1"/>
                </a:solidFill>
                <a:latin typeface="Calibri" pitchFamily="34" charset="0"/>
                <a:ea typeface="Calibri" pitchFamily="34" charset="-122"/>
                <a:cs typeface="Calibri" pitchFamily="34" charset="-120"/>
              </a:rPr>
              <a:t>|  Shehab  |  Haneen  | </a:t>
            </a:r>
            <a:r>
              <a:rPr lang="en-US" dirty="0">
                <a:solidFill>
                  <a:schemeClr val="bg1"/>
                </a:solidFill>
                <a:latin typeface="Calibri" pitchFamily="34" charset="0"/>
                <a:ea typeface="Calibri" pitchFamily="34" charset="-122"/>
                <a:cs typeface="Calibri" pitchFamily="34" charset="-120"/>
              </a:rPr>
              <a:t>Shaza</a:t>
            </a:r>
            <a:endParaRPr lang="en-US" sz="1800" dirty="0"/>
          </a:p>
        </p:txBody>
      </p:sp>
      <p:sp>
        <p:nvSpPr>
          <p:cNvPr id="7" name="Text 5"/>
          <p:cNvSpPr txBox="1"/>
          <p:nvPr/>
        </p:nvSpPr>
        <p:spPr>
          <a:xfrm>
            <a:off x="731520" y="4754880"/>
            <a:ext cx="10698480" cy="365760"/>
          </a:xfrm>
          <a:prstGeom prst="rect">
            <a:avLst/>
          </a:prstGeom>
          <a:noFill/>
          <a:ln/>
        </p:spPr>
        <p:txBody>
          <a:bodyPr wrap="square" lIns="0" tIns="0" rIns="0" bIns="0" rtlCol="0" anchor="t"/>
          <a:lstStyle/>
          <a:p>
            <a:pPr marL="0" indent="0" algn="ctr">
              <a:buNone/>
            </a:pPr>
            <a:r>
              <a:rPr lang="en-US" sz="1400" dirty="0">
                <a:solidFill>
                  <a:schemeClr val="bg2"/>
                </a:solidFill>
                <a:latin typeface="Calibri" pitchFamily="34" charset="0"/>
                <a:ea typeface="Calibri" pitchFamily="34" charset="-122"/>
                <a:cs typeface="Calibri" pitchFamily="34" charset="-120"/>
              </a:rPr>
              <a:t>github.com/jowairyakassem/CentralSuperstore_Tableau</a:t>
            </a:r>
            <a:endParaRPr lang="en-US" sz="1400" dirty="0"/>
          </a:p>
        </p:txBody>
      </p:sp>
      <p:sp>
        <p:nvSpPr>
          <p:cNvPr id="8" name="Text 6"/>
          <p:cNvSpPr txBox="1"/>
          <p:nvPr/>
        </p:nvSpPr>
        <p:spPr>
          <a:xfrm>
            <a:off x="731520" y="5394960"/>
            <a:ext cx="10698480" cy="457200"/>
          </a:xfrm>
          <a:prstGeom prst="rect">
            <a:avLst/>
          </a:prstGeom>
          <a:noFill/>
          <a:ln/>
        </p:spPr>
        <p:txBody>
          <a:bodyPr wrap="square" lIns="0" tIns="0" rIns="0" bIns="0" rtlCol="0" anchor="t"/>
          <a:lstStyle/>
          <a:p>
            <a:pPr marL="0" indent="0" algn="ctr">
              <a:buNone/>
            </a:pPr>
            <a:r>
              <a:rPr lang="en-US" sz="2000" b="1" dirty="0">
                <a:solidFill>
                  <a:schemeClr val="bg1"/>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Central Superstore">
  <a:themeElements>
    <a:clrScheme name="Central Superstore">
      <a:dk1>
        <a:srgbClr val="1B2A33"/>
      </a:dk1>
      <a:lt1>
        <a:srgbClr val="FFFFFF"/>
      </a:lt1>
      <a:dk2>
        <a:srgbClr val="0B3C49"/>
      </a:dk2>
      <a:lt2>
        <a:srgbClr val="EEF3F4"/>
      </a:lt2>
      <a:accent1>
        <a:srgbClr val="1F7A8C"/>
      </a:accent1>
      <a:accent2>
        <a:srgbClr val="E4572E"/>
      </a:accent2>
      <a:accent3>
        <a:srgbClr val="F2A541"/>
      </a:accent3>
      <a:accent4>
        <a:srgbClr val="2E8B57"/>
      </a:accent4>
      <a:accent5>
        <a:srgbClr val="6C8EAD"/>
      </a:accent5>
      <a:accent6>
        <a:srgbClr val="8D99AE"/>
      </a:accent6>
      <a:hlink>
        <a:srgbClr val="1F7A8C"/>
      </a:hlink>
      <a:folHlink>
        <a:srgbClr val="6C8EAD"/>
      </a:folHlink>
    </a:clrScheme>
    <a:fontScheme name="Central Supersto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3873</Words>
  <Application>Microsoft Office PowerPoint</Application>
  <PresentationFormat>Widescreen</PresentationFormat>
  <Paragraphs>335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Central Superstore</vt:lpstr>
      <vt:lpstr>PowerPoint Presentation</vt:lpstr>
      <vt:lpstr>The business problem: lots of sales, unclear profit</vt:lpstr>
      <vt:lpstr>Our plan: one warehouse, five questions, five owners</vt:lpstr>
      <vt:lpstr>Understanding the data: one flat file, four years of orders</vt:lpstr>
      <vt:lpstr>Building the foundation: from CSV to a star schema</vt:lpstr>
      <vt:lpstr>Project architecture: five layers, each with a job</vt:lpstr>
      <vt:lpstr>Project workflow: how the work actually moved</vt:lpstr>
      <vt:lpstr>The SQL validation journey: trusting the numbers first</vt:lpstr>
      <vt:lpstr>The Executive Overview: six numbers to start with</vt:lpstr>
      <vt:lpstr>What it revealed: balanced sales, uneven profit</vt:lpstr>
      <vt:lpstr>Sales trends: growth, and a strong autumn</vt:lpstr>
      <vt:lpstr>Profitability: where the money is made and where it leaks</vt:lpstr>
      <vt:lpstr>Geography and shipping: our biggest state loses the most</vt:lpstr>
      <vt:lpstr>Interactive features: letting people ask their own questions</vt:lpstr>
      <vt:lpstr>Key business insights: six things the data told us</vt:lpstr>
      <vt:lpstr>Our recommendations: from findings to actions</vt:lpstr>
      <vt:lpstr>Challenges and lessons learned</vt:lpstr>
      <vt:lpstr>Tools and technologies behind the project</vt:lpstr>
      <vt:lpstr>Project impact and reflection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Superstore Business Intelligence Project</dc:title>
  <dc:subject>PptxGenJS Presentation</dc:subject>
  <dc:creator>Jowairya Kassem, Shaza, Shehab, Haneen, Momen</dc:creator>
  <cp:lastModifiedBy>Jowairya Kassem</cp:lastModifiedBy>
  <cp:revision>2</cp:revision>
  <dcterms:created xsi:type="dcterms:W3CDTF">2026-10-10T10:56:40Z</dcterms:created>
  <dcterms:modified xsi:type="dcterms:W3CDTF">2026-10-10T11:07:48Z</dcterms:modified>
</cp:coreProperties>
</file>